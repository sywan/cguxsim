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923054f61a4ea7" /><Relationship Type="http://schemas.openxmlformats.org/officeDocument/2006/relationships/extended-properties" Target="/docProps/app.xml" Id="R30c257fd8e3345be" /><Relationship Type="http://schemas.openxmlformats.org/officeDocument/2006/relationships/officeDocument" Target="/ppt/presentation.xml" Id="Rb52bcb9f24824e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f1ccbdef624cf0"/>
  </p:sldMasterIdLst>
  <p:notesMasterIdLst>
    <p:notesMasterId xmlns:r="http://schemas.openxmlformats.org/officeDocument/2006/relationships" r:id="Ra05ff41b522d4b40"/>
  </p:notesMasterIdLst>
  <p:sldIdLst>
    <p:sldId xmlns:r="http://schemas.openxmlformats.org/officeDocument/2006/relationships" id="256" r:id="Re8f0428c515743a5"/>
    <p:sldId xmlns:r="http://schemas.openxmlformats.org/officeDocument/2006/relationships" id="257" r:id="R873a97906f724c2b"/>
    <p:sldId xmlns:r="http://schemas.openxmlformats.org/officeDocument/2006/relationships" id="258" r:id="Raf8f6221f4aa495a"/>
    <p:sldId xmlns:r="http://schemas.openxmlformats.org/officeDocument/2006/relationships" id="259" r:id="R0c4030794c4b4dd8"/>
    <p:sldId xmlns:r="http://schemas.openxmlformats.org/officeDocument/2006/relationships" id="260" r:id="R7988d65d8dca4cd8"/>
    <p:sldId xmlns:r="http://schemas.openxmlformats.org/officeDocument/2006/relationships" id="261" r:id="R11edbfcf88f344f1"/>
    <p:sldId xmlns:r="http://schemas.openxmlformats.org/officeDocument/2006/relationships" id="262" r:id="Rb2443f781ed147b6"/>
    <p:sldId xmlns:r="http://schemas.openxmlformats.org/officeDocument/2006/relationships" id="263" r:id="Rf759a76220cb468d"/>
    <p:sldId xmlns:r="http://schemas.openxmlformats.org/officeDocument/2006/relationships" id="264" r:id="Rdbd48c37ab224962"/>
    <p:sldId xmlns:r="http://schemas.openxmlformats.org/officeDocument/2006/relationships" id="265" r:id="R2dcdfe68b0704c49"/>
    <p:sldId xmlns:r="http://schemas.openxmlformats.org/officeDocument/2006/relationships" id="266" r:id="R2a4b882d228a467a"/>
    <p:sldId xmlns:r="http://schemas.openxmlformats.org/officeDocument/2006/relationships" id="267" r:id="R2c02afd6ef814e7f"/>
    <p:sldId xmlns:r="http://schemas.openxmlformats.org/officeDocument/2006/relationships" id="268" r:id="R657d9111d6ac4dea"/>
    <p:sldId xmlns:r="http://schemas.openxmlformats.org/officeDocument/2006/relationships" id="269" r:id="R24308284315744e4"/>
    <p:sldId xmlns:r="http://schemas.openxmlformats.org/officeDocument/2006/relationships" id="270" r:id="Rebf18495791a4c46"/>
    <p:sldId xmlns:r="http://schemas.openxmlformats.org/officeDocument/2006/relationships" id="271" r:id="R88bebcd25a6a4d7a"/>
    <p:sldId xmlns:r="http://schemas.openxmlformats.org/officeDocument/2006/relationships" id="272" r:id="R5e9ad340f5d5414c"/>
    <p:sldId xmlns:r="http://schemas.openxmlformats.org/officeDocument/2006/relationships" id="273" r:id="R9257d86ff0c945e8"/>
    <p:sldId xmlns:r="http://schemas.openxmlformats.org/officeDocument/2006/relationships" id="274" r:id="R1984049529984059"/>
    <p:sldId xmlns:r="http://schemas.openxmlformats.org/officeDocument/2006/relationships" id="275" r:id="R16ccdd46552e4d59"/>
    <p:sldId xmlns:r="http://schemas.openxmlformats.org/officeDocument/2006/relationships" id="276" r:id="Rde42403d3167428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b89b851fd845f4" /><Relationship Type="http://schemas.openxmlformats.org/officeDocument/2006/relationships/slideMaster" Target="/ppt/slideMasters/slideMaster1.xml" Id="Reff1ccbdef624cf0" /><Relationship Type="http://schemas.openxmlformats.org/officeDocument/2006/relationships/notesMaster" Target="/ppt/notesMasters/notesMaster1.xml" Id="Ra05ff41b522d4b40" /><Relationship Type="http://schemas.openxmlformats.org/officeDocument/2006/relationships/presProps" Target="/ppt/presProps.xml" Id="Re7dded0783d14908" /><Relationship Type="http://schemas.openxmlformats.org/officeDocument/2006/relationships/tableStyles" Target="/ppt/tableStyles.xml" Id="Rc34113e6b21047e1" /><Relationship Type="http://schemas.openxmlformats.org/officeDocument/2006/relationships/slide" Target="/ppt/slides/slide1.xml" Id="Re8f0428c515743a5" /><Relationship Type="http://schemas.openxmlformats.org/officeDocument/2006/relationships/slide" Target="/ppt/slides/slide2.xml" Id="R873a97906f724c2b" /><Relationship Type="http://schemas.openxmlformats.org/officeDocument/2006/relationships/slide" Target="/ppt/slides/slide3.xml" Id="Raf8f6221f4aa495a" /><Relationship Type="http://schemas.openxmlformats.org/officeDocument/2006/relationships/slide" Target="/ppt/slides/slide4.xml" Id="R0c4030794c4b4dd8" /><Relationship Type="http://schemas.openxmlformats.org/officeDocument/2006/relationships/slide" Target="/ppt/slides/slide5.xml" Id="R7988d65d8dca4cd8" /><Relationship Type="http://schemas.openxmlformats.org/officeDocument/2006/relationships/slide" Target="/ppt/slides/slide6.xml" Id="R11edbfcf88f344f1" /><Relationship Type="http://schemas.openxmlformats.org/officeDocument/2006/relationships/slide" Target="/ppt/slides/slide7.xml" Id="Rb2443f781ed147b6" /><Relationship Type="http://schemas.openxmlformats.org/officeDocument/2006/relationships/slide" Target="/ppt/slides/slide8.xml" Id="Rf759a76220cb468d" /><Relationship Type="http://schemas.openxmlformats.org/officeDocument/2006/relationships/slide" Target="/ppt/slides/slide9.xml" Id="Rdbd48c37ab224962" /><Relationship Type="http://schemas.openxmlformats.org/officeDocument/2006/relationships/slide" Target="/ppt/slides/slide10.xml" Id="R2dcdfe68b0704c49" /><Relationship Type="http://schemas.openxmlformats.org/officeDocument/2006/relationships/slide" Target="/ppt/slides/slide11.xml" Id="R2a4b882d228a467a" /><Relationship Type="http://schemas.openxmlformats.org/officeDocument/2006/relationships/slide" Target="/ppt/slides/slide12.xml" Id="R2c02afd6ef814e7f" /><Relationship Type="http://schemas.openxmlformats.org/officeDocument/2006/relationships/slide" Target="/ppt/slides/slide13.xml" Id="R657d9111d6ac4dea" /><Relationship Type="http://schemas.openxmlformats.org/officeDocument/2006/relationships/slide" Target="/ppt/slides/slide14.xml" Id="R24308284315744e4" /><Relationship Type="http://schemas.openxmlformats.org/officeDocument/2006/relationships/slide" Target="/ppt/slides/slide15.xml" Id="Rebf18495791a4c46" /><Relationship Type="http://schemas.openxmlformats.org/officeDocument/2006/relationships/slide" Target="/ppt/slides/slide16.xml" Id="R88bebcd25a6a4d7a" /><Relationship Type="http://schemas.openxmlformats.org/officeDocument/2006/relationships/slide" Target="/ppt/slides/slide17.xml" Id="R5e9ad340f5d5414c" /><Relationship Type="http://schemas.openxmlformats.org/officeDocument/2006/relationships/slide" Target="/ppt/slides/slide18.xml" Id="R9257d86ff0c945e8" /><Relationship Type="http://schemas.openxmlformats.org/officeDocument/2006/relationships/slide" Target="/ppt/slides/slide19.xml" Id="R1984049529984059" /><Relationship Type="http://schemas.openxmlformats.org/officeDocument/2006/relationships/slide" Target="/ppt/slides/slide20.xml" Id="R16ccdd46552e4d59" /><Relationship Type="http://schemas.openxmlformats.org/officeDocument/2006/relationships/slide" Target="/ppt/slides/slide21.xml" Id="Rde42403d316742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335097dc4546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e881fdb5a64092" /><Relationship Type="http://schemas.openxmlformats.org/officeDocument/2006/relationships/notesMaster" Target="/ppt/notesMasters/notesMaster1.xml" Id="R15c4240203914f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f08d347b444075" /><Relationship Type="http://schemas.openxmlformats.org/officeDocument/2006/relationships/notesMaster" Target="/ppt/notesMasters/notesMaster1.xml" Id="Re65751541d484a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6f2ee32bce435f" /><Relationship Type="http://schemas.openxmlformats.org/officeDocument/2006/relationships/notesMaster" Target="/ppt/notesMasters/notesMaster1.xml" Id="Re663ed0269df4f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5099a00d824c25" /><Relationship Type="http://schemas.openxmlformats.org/officeDocument/2006/relationships/notesMaster" Target="/ppt/notesMasters/notesMaster1.xml" Id="Re8e5f37daf1049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9a33c5b36f42fb" /><Relationship Type="http://schemas.openxmlformats.org/officeDocument/2006/relationships/notesMaster" Target="/ppt/notesMasters/notesMaster1.xml" Id="R66f09371820347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bdadbfec664c92" /><Relationship Type="http://schemas.openxmlformats.org/officeDocument/2006/relationships/notesMaster" Target="/ppt/notesMasters/notesMaster1.xml" Id="Rc8c40e21ca1546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7cbc1a82544cef" /><Relationship Type="http://schemas.openxmlformats.org/officeDocument/2006/relationships/notesMaster" Target="/ppt/notesMasters/notesMaster1.xml" Id="R6ab06f67fa0d4f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f6a5a3bcc54ed2" /><Relationship Type="http://schemas.openxmlformats.org/officeDocument/2006/relationships/notesMaster" Target="/ppt/notesMasters/notesMaster1.xml" Id="R0c5a50aa66ab49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dcd70da0704025" /><Relationship Type="http://schemas.openxmlformats.org/officeDocument/2006/relationships/notesMaster" Target="/ppt/notesMasters/notesMaster1.xml" Id="Rda60945330844c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c0ebc75b504043" /><Relationship Type="http://schemas.openxmlformats.org/officeDocument/2006/relationships/notesMaster" Target="/ppt/notesMasters/notesMaster1.xml" Id="Ra61ef8d4f94245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888839a3f446fc" /><Relationship Type="http://schemas.openxmlformats.org/officeDocument/2006/relationships/notesMaster" Target="/ppt/notesMasters/notesMaster1.xml" Id="R5a6f9a00f5354f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a47f3def814b0e" /><Relationship Type="http://schemas.openxmlformats.org/officeDocument/2006/relationships/notesMaster" Target="/ppt/notesMasters/notesMaster1.xml" Id="R8950ac8844ee43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79b0680caa437b" /><Relationship Type="http://schemas.openxmlformats.org/officeDocument/2006/relationships/notesMaster" Target="/ppt/notesMasters/notesMaster1.xml" Id="Ra68bcb53ad6a42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4e199f1aea4ad9" /><Relationship Type="http://schemas.openxmlformats.org/officeDocument/2006/relationships/notesMaster" Target="/ppt/notesMasters/notesMaster1.xml" Id="R33e25304d3874c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68d889017c42ed" /><Relationship Type="http://schemas.openxmlformats.org/officeDocument/2006/relationships/notesMaster" Target="/ppt/notesMasters/notesMaster1.xml" Id="R6bad463e8a2a4db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de464c33d84207" /><Relationship Type="http://schemas.openxmlformats.org/officeDocument/2006/relationships/notesMaster" Target="/ppt/notesMasters/notesMaster1.xml" Id="R019cdeb9c99a44b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c3bd76f8d7c489e" /><Relationship Type="http://schemas.openxmlformats.org/officeDocument/2006/relationships/notesMaster" Target="/ppt/notesMasters/notesMaster1.xml" Id="R910f371a204d40b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d784766a594eb2" /><Relationship Type="http://schemas.openxmlformats.org/officeDocument/2006/relationships/notesMaster" Target="/ppt/notesMasters/notesMaster1.xml" Id="R49912e89161b496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3642d2552824616" /><Relationship Type="http://schemas.openxmlformats.org/officeDocument/2006/relationships/notesMaster" Target="/ppt/notesMasters/notesMaster1.xml" Id="Rdfc9f33754c34b8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d5fe1197df34a8a" /><Relationship Type="http://schemas.openxmlformats.org/officeDocument/2006/relationships/notesMaster" Target="/ppt/notesMasters/notesMaster1.xml" Id="R46ce095963414b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419bd68377f4660" /><Relationship Type="http://schemas.openxmlformats.org/officeDocument/2006/relationships/notesMaster" Target="/ppt/notesMasters/notesMaster1.xml" Id="R237b40a3340846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152cd4482747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ab4135b33a4915" /><Relationship Type="http://schemas.openxmlformats.org/officeDocument/2006/relationships/slideLayout" Target="/ppt/slideLayouts/slideLayout1.xml" Id="R8b6c39dc19f542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6c39dc19f542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e504cce5b4aa6" /><Relationship Type="http://schemas.openxmlformats.org/officeDocument/2006/relationships/notesSlide" Target="/ppt/notesSlides/notesSlide1.xml" Id="Rd89d934a483040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52e14c54a4b81" /><Relationship Type="http://schemas.openxmlformats.org/officeDocument/2006/relationships/notesSlide" Target="/ppt/notesSlides/notesSlide2.xml" Id="Rc72505eb09214e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12f048b514d11" /><Relationship Type="http://schemas.openxmlformats.org/officeDocument/2006/relationships/notesSlide" Target="/ppt/notesSlides/notesSlide3.xml" Id="Rf00ce37c605842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b164e5f8b42c2" /><Relationship Type="http://schemas.openxmlformats.org/officeDocument/2006/relationships/notesSlide" Target="/ppt/notesSlides/notesSlide4.xml" Id="R7ba09c8b011440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6941c0fcf45d9" /><Relationship Type="http://schemas.openxmlformats.org/officeDocument/2006/relationships/notesSlide" Target="/ppt/notesSlides/notesSlide5.xml" Id="R364deeadaa0b41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8d004d0084903" /><Relationship Type="http://schemas.openxmlformats.org/officeDocument/2006/relationships/notesSlide" Target="/ppt/notesSlides/notesSlide6.xml" Id="R52403a6c3d0b49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7e61455b04886" /><Relationship Type="http://schemas.openxmlformats.org/officeDocument/2006/relationships/notesSlide" Target="/ppt/notesSlides/notesSlide7.xml" Id="R24e785c6647a49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98b61ff894dab" /><Relationship Type="http://schemas.openxmlformats.org/officeDocument/2006/relationships/notesSlide" Target="/ppt/notesSlides/notesSlide8.xml" Id="R48320bb8682b41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4aca7e69644c8" /><Relationship Type="http://schemas.openxmlformats.org/officeDocument/2006/relationships/notesSlide" Target="/ppt/notesSlides/notesSlide9.xml" Id="Red410c76d47542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bf6de51df4d53" /><Relationship Type="http://schemas.openxmlformats.org/officeDocument/2006/relationships/notesSlide" Target="/ppt/notesSlides/notesSlide10.xml" Id="Rf3fd86becd7040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48a89c69d479d" /><Relationship Type="http://schemas.openxmlformats.org/officeDocument/2006/relationships/notesSlide" Target="/ppt/notesSlides/notesSlide11.xml" Id="R30a551c08b9b41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369062d9f4274" /><Relationship Type="http://schemas.openxmlformats.org/officeDocument/2006/relationships/notesSlide" Target="/ppt/notesSlides/notesSlide12.xml" Id="Rb1cb2d97ce2d49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8292e4f3348f8" /><Relationship Type="http://schemas.openxmlformats.org/officeDocument/2006/relationships/notesSlide" Target="/ppt/notesSlides/notesSlide13.xml" Id="R43bf39172f104d9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bc3167a0f400d" /><Relationship Type="http://schemas.openxmlformats.org/officeDocument/2006/relationships/notesSlide" Target="/ppt/notesSlides/notesSlide14.xml" Id="R3b72166f61834f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904961d5e4d58" /><Relationship Type="http://schemas.openxmlformats.org/officeDocument/2006/relationships/notesSlide" Target="/ppt/notesSlides/notesSlide15.xml" Id="R15b6327cc49c49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4f733ddbe439b" /><Relationship Type="http://schemas.openxmlformats.org/officeDocument/2006/relationships/notesSlide" Target="/ppt/notesSlides/notesSlide16.xml" Id="Rbcb0c877aad9499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37e602ac64aa1" /><Relationship Type="http://schemas.openxmlformats.org/officeDocument/2006/relationships/notesSlide" Target="/ppt/notesSlides/notesSlide17.xml" Id="R5a22f3bcf5df490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fa4c1c6794e5e" /><Relationship Type="http://schemas.openxmlformats.org/officeDocument/2006/relationships/notesSlide" Target="/ppt/notesSlides/notesSlide18.xml" Id="Re068dbaa5f02438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de7f9418c413d" /><Relationship Type="http://schemas.openxmlformats.org/officeDocument/2006/relationships/notesSlide" Target="/ppt/notesSlides/notesSlide19.xml" Id="Rb8f8fb5368fa4c6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ed0b870d64c0d" /><Relationship Type="http://schemas.openxmlformats.org/officeDocument/2006/relationships/notesSlide" Target="/ppt/notesSlides/notesSlide20.xml" Id="R0da32152b7da401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cc1429f664aa0" /><Relationship Type="http://schemas.openxmlformats.org/officeDocument/2006/relationships/notesSlide" Target="/ppt/notesSlides/notesSlide21.xml" Id="R4d977b7923534d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F7234A-EF7C-4DC6-ADD5-437E2027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CGU-SIM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46E62-C9A9-473E-947B-7F47CAE5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885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713"/>
                </a:solidFill>
              </a:defRPr>
            </a:pPr>
            <a:r>
              <a:rPr sz="3750" b="1">
                <a:solidFill>
                  <a:srgbClr val="111713"/>
                </a:solidFill>
              </a:rPr>
              <a:t>CGU-SIM Briefing: OTC Application And Student Pathway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2EB92-4CBE-4021-B0E7-D87B3234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45D57"/>
                </a:solidFill>
              </a:defRPr>
            </a:pPr>
            <a:r>
              <a:rPr sz="1800" b="0">
                <a:solidFill>
                  <a:srgbClr val="545D57"/>
                </a:solidFill>
              </a:rPr>
              <a:t>Decision package for a staged feasibility and dual-approval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0CB07-8BF1-409F-97B1-8B598E9A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2324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80D07-4AB5-46EB-BCFE-49CC8017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87F63-8CBF-4879-8D10-56063476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863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OTC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F64FF-94C7-42FE-8E50-793AE5F7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8903D-00CA-4B53-886E-1112925D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53000"/>
            <a:ext cx="2324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7D42D-F72A-475B-921C-625E1093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530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B32"/>
          </a:solidFill>
          <a:ln xmlns:a="http://schemas.openxmlformats.org/drawingml/2006/main" w="9525">
            <a:solidFill>
              <a:srgbClr val="B26B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1ACAE-7C03-453E-A1B6-5B4E1689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MOE permission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D5829-ECE5-4E67-AF05-69EDF075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4830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F361AC-E0B4-4AF6-BA3A-25DEFE77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953000"/>
            <a:ext cx="2324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FF140-9649-4AB5-95FD-AF7356B4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9530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9B295-B886-4603-AC46-3EC9775D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863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Pathway after approvals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FABF1-16CE-461A-9771-79DC519C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4830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BEDE0A-68DE-4A74-964A-B28C5B73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45D57"/>
                </a:solidFill>
              </a:defRPr>
            </a:pPr>
            <a:r>
              <a:rPr sz="975" b="0">
                <a:solidFill>
                  <a:srgbClr val="545D57"/>
                </a:solidFill>
              </a:rPr>
              <a:t>Prepared for CGU academic and administrative leadership</a:t>
            </a:r>
          </a:p>
        </p:txBody>
      </p:sp>
    </p:spTree>
    <p:extLst>
      <p:ext uri="{BB962C8B-B14F-4D97-AF65-F5344CB8AC3E}">
        <p14:creationId xmlns:p14="http://schemas.microsoft.com/office/powerpoint/2010/main" val="875816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413FA3-115F-4DD2-AB68-EDE00DF6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CGU-SIM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33F16-6FF9-4AAE-98F3-05D9B71D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Authorize a feasibility sprint, not a public launch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CC4D8-DF45-4640-A347-2EB34BD1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201CB-7213-4645-B537-F4FA2AED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4C23B-FAF6-4CBF-9F61-9ED83084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42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C4810-1434-44A4-BE87-6D68BF75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666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D6DAE-9AF8-46CE-8C23-9E4FA75D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Approve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702A4-8170-4FD3-BDD9-A22C08A6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242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CGU-SIM task force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NDA legal review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MOE admissions route assessment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6/9-module staffing inventory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6A1A5-45E0-4321-81B2-9871F8A1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81150"/>
            <a:ext cx="342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8CDB0-5FB7-406F-81A2-4405B1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81150"/>
            <a:ext cx="666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B32"/>
          </a:solidFill>
          <a:ln xmlns:a="http://schemas.openxmlformats.org/drawingml/2006/main" w="9525">
            <a:solidFill>
              <a:srgbClr val="B26B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00C05-D6B1-4B94-8F0A-139186D4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14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Defer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58DD6-B368-4782-8700-2DB98167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76450"/>
            <a:ext cx="31242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Public recruitment claims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Dual-degree promise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Final scope before Annex review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Student recruitment before dual approval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73386-6554-489A-9F72-F44ACABA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342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8E8B9-DB97-4BD7-877B-B8DCB2BB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666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AA336-DBD9-4C09-A40A-2BA5B361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F5C08A-EE7D-4FC9-9560-3FB36C72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1242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SIM module sequence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MOE independent-admissions path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Delivery split and timetable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Fees, revenue share, cohort threshold</a:t>
            </a:r>
          </a:p>
        </p:txBody>
      </p:sp>
    </p:spTree>
    <p:extLst>
      <p:ext uri="{BB962C8B-B14F-4D97-AF65-F5344CB8AC3E}">
        <p14:creationId xmlns:p14="http://schemas.microsoft.com/office/powerpoint/2010/main" val="14367279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630996-CA39-4E88-8AD5-70AF5701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CGU-SIM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4C1BF-3D0E-4B22-A361-C7E6E21F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What is on the table is an OTC foundation plus a regulated admissions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A49CD-FCE4-4509-A5A7-EE0610D1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D8F77-2C6D-48B6-8333-F0669C97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BD21C-5B22-41A0-B4DB-EA170B9E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857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10E82-EF57-4CA7-930E-DE7B492E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C2ABC-8A1E-45DD-AFD7-B0DFB478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Foundation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971B0-1244-42F0-BF87-87BD80F4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45529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CGU applies as a SIM Overseas Teaching Centre to deliver SIM diploma modules in Taiwan under SIM standards.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Confirmed by SIM 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E99B8-9C90-4DE5-9ADE-69701C92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09750"/>
            <a:ext cx="4857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192CB-DB8B-45A9-B14E-5083F17A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097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4B96EC-3EC8-43A2-918B-9926DE38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431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Regulatory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B7AEA-5346-4AF0-85F9-8DE956F7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05050"/>
            <a:ext cx="45529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If CGU recruits a distinct cohort in parallel with 學測/分科 routes and different tuition, independent admissions must clear Taiwan's MOE.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Confirmed by University Act Article 24; details pending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F0E9F-487F-43F3-B478-7226B286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76575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13"/>
          </a:solidFill>
          <a:ln xmlns:a="http://schemas.openxmlformats.org/drawingml/2006/main" w="9525">
            <a:solidFill>
              <a:srgbClr val="11171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5CBC9D-63BA-4E07-A916-18E3CEAB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003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11713"/>
                </a:solidFill>
              </a:defRPr>
            </a:pPr>
            <a:r>
              <a:rPr sz="2700" b="1">
                <a:solidFill>
                  <a:srgbClr val="111713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6362621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4A05CD-17E6-4DD7-AD96-6B0A0902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CGU-SIM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AA63C-AF52-443C-AF7F-EEBA41F5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The recruitment case is about student quality and safer overseas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74D4E-DA86-4A24-839A-55D398C3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7BBC7-7D05-46C9-93E4-182FD490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6C0CA-BE9D-4766-9A49-25D57F95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839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7797B-870C-4E10-8EF9-32130AF5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38F2D-7996-469A-AA8F-826CD564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Core judgment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F905C-A376-4D94-8DE1-45FC7488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053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CGU does not need the pathway merely to fill seats; the strategic value is attracting stronger students who want an overseas degree route with a Taiwan first stage.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689D4-9BDF-47D0-9C8F-447337EE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713"/>
                </a:solidFill>
              </a:defRPr>
            </a:pPr>
            <a:r>
              <a:rPr sz="1425" b="0">
                <a:solidFill>
                  <a:srgbClr val="111713"/>
                </a:solidFill>
              </a:rPr>
              <a:t>• Families may prefer a lower-risk first step before Singapore.</a:t>
            </a:r>
          </a:p>
          <a:p xmlns:a="http://schemas.openxmlformats.org/drawingml/2006/main">
            <a:pPr algn="l">
              <a:defRPr sz="1425" b="0">
                <a:solidFill>
                  <a:srgbClr val="111713"/>
                </a:solidFill>
              </a:defRPr>
            </a:pPr>
            <a:r>
              <a:rPr sz="1425" b="0">
                <a:solidFill>
                  <a:srgbClr val="111713"/>
                </a:solidFill>
              </a:rPr>
              <a:t>• SIM observed demand from Taiwan-university freshmen who later transfer abroad and lose first-year learning.</a:t>
            </a:r>
          </a:p>
          <a:p xmlns:a="http://schemas.openxmlformats.org/drawingml/2006/main">
            <a:pPr algn="l">
              <a:defRPr sz="1425" b="0">
                <a:solidFill>
                  <a:srgbClr val="111713"/>
                </a:solidFill>
              </a:defRPr>
            </a:pPr>
            <a:r>
              <a:rPr sz="1425" b="0">
                <a:solidFill>
                  <a:srgbClr val="111713"/>
                </a:solidFill>
              </a:rPr>
              <a:t>• CGU value depends on making SIM-recognized learning recoverable through course mapping or credit exemption.</a:t>
            </a:r>
          </a:p>
          <a:p xmlns:a="http://schemas.openxmlformats.org/drawingml/2006/main">
            <a:pPr algn="l">
              <a:defRPr sz="1425" b="0">
                <a:solidFill>
                  <a:srgbClr val="111713"/>
                </a:solidFill>
              </a:defRPr>
            </a:pPr>
            <a:r>
              <a:rPr sz="1425" b="0">
                <a:solidFill>
                  <a:srgbClr val="111713"/>
                </a:solidFill>
              </a:rPr>
              <a:t>• Retention and CGU degree completion matter, but they are secondary until rules are confirmed.</a:t>
            </a:r>
          </a:p>
        </p:txBody>
      </p:sp>
    </p:spTree>
    <p:extLst>
      <p:ext uri="{BB962C8B-B14F-4D97-AF65-F5344CB8AC3E}">
        <p14:creationId xmlns:p14="http://schemas.microsoft.com/office/powerpoint/2010/main" val="7176508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136351-4A62-418D-8BBC-CA98BD49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CGU-SIM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E6C2B-0145-4DBE-9011-A85EC40F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Two external approvals now determine whether the pathway can launch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047BC-3D62-448B-B17C-F562DC38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2171B-B1A7-4717-9E49-08950116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3DEC3-D3DF-4A33-AC9B-8A6A2630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CB9CA-24D1-4DC7-85E6-05BE682C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C2D5F-6778-4EB6-B2E7-A384805F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2AB6D-4012-4AB6-9FBB-79A801B8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2DEF1-52CA-4545-852B-A32E62ED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Why it matters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B404A-D944-4AEB-B510-7BC1DD60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6B562-8AD3-4F06-BE64-CB453915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Implication for the scheme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AAC2A-9077-4DDD-A1CA-B270AAA4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3797300" cy="138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1A7ED-C414-405F-9C27-6250F77F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76425"/>
            <a:ext cx="3663950" cy="128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SIM OTC approval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10D22-4965-4682-A67E-36A28755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800225"/>
            <a:ext cx="3797300" cy="138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C4D3A-F24B-4DE3-9AF1-8D427847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76425"/>
            <a:ext cx="3663950" cy="128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CGU needs SIM approval to deliver DMS modules under SIM quality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972D3E-7664-45DD-BCC3-F2273423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800225"/>
            <a:ext cx="3797300" cy="138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1671F3-4536-48C7-8E17-0A6B882D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876425"/>
            <a:ext cx="3663950" cy="128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No OTC approval means no SIM-recognized teaching centre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D82CEE-6C39-43E3-BA68-39141720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4525"/>
            <a:ext cx="3797300" cy="138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F2C32E-FC00-4461-B979-014F9CC1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0725"/>
            <a:ext cx="3663950" cy="128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Taiwan MOE admissions permission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783057-D1B7-4416-9A86-9B6F80F7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184525"/>
            <a:ext cx="3797300" cy="138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3D1633-84D6-4474-93BB-B6022EB0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260725"/>
            <a:ext cx="3663950" cy="128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Independent admissions rules must be approved before implementation under University Act Artic…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C1933F-E651-43A8-93CE-5099F9D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184525"/>
            <a:ext cx="3797300" cy="138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30BCD-B729-465E-A212-213C9B96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260725"/>
            <a:ext cx="3663950" cy="128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No MOE permission means no parallel CGU-SIM student recruitment 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82BF82-66C9-4FDE-8544-A42D7824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68825"/>
            <a:ext cx="3797300" cy="138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B0079E-FBE4-4E5C-8124-804353C0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45025"/>
            <a:ext cx="3663950" cy="128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Joint launch decision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14F667-0759-4502-9CBB-E7A99D7D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4568825"/>
            <a:ext cx="3797300" cy="138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C0A7D4-2872-4B01-9CAD-4075D96B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645025"/>
            <a:ext cx="3663950" cy="128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The approvals are intertwined because recruitment, tuition, student status, and SIM progressio…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6A2760-58F8-45A5-9970-100FBB4C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568825"/>
            <a:ext cx="3797300" cy="138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75A57F-8F15-40D2-8631-57DDCEEB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645025"/>
            <a:ext cx="3663950" cy="128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Do not open recruitment until both paths are cleared</a:t>
            </a:r>
          </a:p>
        </p:txBody>
      </p:sp>
    </p:spTree>
    <p:extLst>
      <p:ext uri="{BB962C8B-B14F-4D97-AF65-F5344CB8AC3E}">
        <p14:creationId xmlns:p14="http://schemas.microsoft.com/office/powerpoint/2010/main" val="13908044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1C1812-35C4-45A9-A122-F37CAAA9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CGU-SIM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9520A-2B83-497A-A428-7796C3FA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Five SIM documents define the collaboration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1D2DE-DEB5-44A4-A239-D80BC048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6DB97-5F9A-4CC6-8AA8-C3DF0DFA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B9C51-9F82-4C69-89F9-96086808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1C93D-674F-4026-80E8-A8B5E2FB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BA0F0-6E93-41B9-B221-D0DB1620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SIM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AD123-263A-46DA-9369-B6E648AD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D9C11-1DBA-4048-B0FD-8EF34FEB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Structural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A03A7-778C-4B83-9A0B-658A05FF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97938C-13FA-4DE8-BD95-82207D18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Effect on scheme 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420BF-6F83-4A83-954C-5D1EF1B3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9B911-C5CB-44C8-92FD-FB404094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7642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OTC Application Guide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42E58-F835-48C1-8158-282325A1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80022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8E5D93-ED53-4B40-AB1B-9397B3C3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7642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Defines the institutional approval path: application, audit, staff review, agreement, accredit…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D736B-8C50-4833-83BB-8F39C76C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80022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8EADA6-95DE-435F-929F-3F1BCF19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87642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Makes OTC the foundation layer before any pathway launch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932684-79E6-4729-AC12-47E59C73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080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A06049-A5AB-45D5-AA49-92D8ADEF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0700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Application 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C82C37-5BC9-448C-A1F0-29188A2A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63080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CB575C-FBBC-4410-B870-F1694EDF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70700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Defines CGU evidence duties: site, delivery, staffing, assessment, support, recruitment, intak…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306A9F-67A3-46EC-8D78-340A7021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63080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0EE2C8-C6EE-4C4C-837A-5A93B70B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70700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Turns the idea into a cross-office evidence-pack project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3082BC-17CA-4640-9C67-16B52F6A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138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212FED-086D-4985-BCB4-1339B879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3758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NDA Template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488FDE-C9E7-43F8-B3CE-3D8913A6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46138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17CC05-83DF-4E29-9F0D-F23131B0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53758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Controls access to Annexes and restricts publicity, information handling, PDPA, law, jurisdict…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5FA89F-0D4F-4E81-B126-817AA500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46138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858BD2-53AC-4DFE-95A7-8C32220F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53758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Makes legal review the first gate and constrains recruitment language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04F970-C46E-40E9-8C22-0C44BAD8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9196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14E670-30CD-4D2B-A222-56CA34A5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816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Teaching Profile Form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60256C-5892-4344-92F6-4D2E8309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429196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9400E0-575B-4A07-A1D1-931C1D6C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36816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Controls who may teach and what qualifications must be documented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DEA021-DBEC-4890-AF81-EAB0FB54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29196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CA740B-64BC-42AD-83A0-3ADFAEFE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36816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Sets the 6/9-module staffing bottleneck and English-medium readiness test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EE51A1-CD92-4BCB-9C93-E78808C1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254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ABD209-129D-450F-94A0-4169E289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874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DMS Course Info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B81D07-E98C-4709-A7D6-E87F0C0A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512254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B8FCF0-14B5-4E36-8210-B023837D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519874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Defines the programme content: 15 months, 15 modules, 42 hours each, 630 hours total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1E4EFA-3B5A-42E3-A9EE-82EA4D42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512254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2F418D-2B9B-462D-91BC-194897CC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519874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Provides the academic substrate for credit mapping and pathway design</a:t>
            </a:r>
          </a:p>
        </p:txBody>
      </p:sp>
    </p:spTree>
    <p:extLst>
      <p:ext uri="{BB962C8B-B14F-4D97-AF65-F5344CB8AC3E}">
        <p14:creationId xmlns:p14="http://schemas.microsoft.com/office/powerpoint/2010/main" val="5160304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5CC376-4FC6-4920-9AF9-FC16213D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CGU-SIM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CCCB6-136A-4363-80B6-17E9B59D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The documents also define the pedagogical model CGU must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3C944-DAF1-4F5D-985E-70B9F8DE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69C7E-52AB-4676-BD48-A8577AC5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5C853-4FE4-4C93-A8D7-3E1733B2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A0C85-5543-4949-B4F2-3C460C26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9E9E6-1D65-485D-8C7B-4344D97F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Pedagogical element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3A113-D7DB-4EAF-A458-03582E9F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06C76-0DB0-48B7-AC4A-10215805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Document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9AC18-51E0-463A-8747-73852F6F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8EB1D-23F7-47F1-B414-9BB9FCBE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Future-design implication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39C6B-A2FF-4A66-A1C3-EA4AC8C5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4D840-1DED-4BBD-8701-7DCC7115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7642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Curriculum spine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17D1F-91FE-4481-A1BF-5EB670E9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80022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75120-81E1-411E-A587-D41CDB8F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7642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DMS Course Info fixes 15 modules and learning aims across communication, quantitative, economi…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E289E-9A57-4982-9F34-2B1D9F9E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80022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0BAA6-A2AC-49CC-80CA-E35126FA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87642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Map CGU equivalents by learning outcome, not only course title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EA40D0-3C65-4440-AD75-BB1C3148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080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42C664-C055-454D-A8FE-26CE6F42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0700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Blended delivery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F2550-156E-41A9-AF37-8FFE1459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63080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104E3-C21C-4684-B439-F2E0165E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70700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Application Form Appendix A specifies SIM vs OTC contact-hour responsibilities by module type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7613B1-DC0E-4ACA-82B4-F3530702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63080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13CC36-584F-4C3E-9EB7-FB177AD6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70700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Reconcile the June 9 conversation's 50/50 discussion with the formal appendix and later Annexes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125596-DEAC-465A-A98A-55E8CCBF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138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89B68B-6F9D-463D-9881-F4D8324A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3758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Faculty qualification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A89D77-F59B-4423-80F3-9F7146F2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46138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01829B-D909-4000-B3DE-A0504E2E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53758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Teaching Profile Form asks for module assignment, experience, qualifications, English proficie…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F03E6F-FC51-4996-A4E4-01BBF6F0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46138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FE3607-BCCE-4F6A-A14E-1A2CAEFF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53758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Build a faculty-readiness matrix before selecting 6 or 9 modules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DADBF9-86BF-4A87-B1DA-CE3785C2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9196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A9F6B7-9B91-4362-B9D5-DD7B9578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816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Assessment control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7ADCDF-3FF5-4EB4-A187-3C9FAD72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429196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E9FFFC-A4FE-49BC-9D58-FAF21EF1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36816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Application Form and June 9 conversation indicate written assessments at CGU, exam papers from…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435F4E-028B-49BB-B260-8AAE9CFA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29196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FC94E3-457C-4F46-8993-A037C239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36816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Clarify exam custody, marking, script return, and grade-posting timing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AA4621-BDC5-4662-90E0-817703CA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254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5E1125-69AD-4080-95CF-4477350B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874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Quality assurance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D65552-5CDF-4949-B2B7-963971CD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512254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D9AC36-09F6-4D8B-A78C-ED7BDA82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519874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OTC Guide requires review, audit, post-cohort accreditation, and annual progress review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8C9BC0-C6F6-4F74-A1A2-9EE2FC65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512254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05A507-7B3F-4D54-9FBC-6D3A480C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519874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Plan the pathway as an auditable teaching centre, not only an admissions route</a:t>
            </a:r>
          </a:p>
        </p:txBody>
      </p:sp>
    </p:spTree>
    <p:extLst>
      <p:ext uri="{BB962C8B-B14F-4D97-AF65-F5344CB8AC3E}">
        <p14:creationId xmlns:p14="http://schemas.microsoft.com/office/powerpoint/2010/main" val="5513589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8A8EC6-1F15-44CC-8F0D-DD2B9532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CGU-SIM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704CA-2ACA-4DF1-99C5-CF6D162D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The proposed student journey has several confirmed steps and several policy gaps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9B787-2022-49D0-A04C-B8E6C5F6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9C710-0409-4479-9217-5D6A2286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59AAB-7AB8-4EC1-89EA-B9084E4D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E115E-B644-49E5-808C-8C960441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6F23B-EB01-48FB-A488-8AF56D14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14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CGU admission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6D0B5-2799-4510-8A32-1193F267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62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Distinct cohort recruited in parallel with regular 學測/分科 routes; MOE permission required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06A6D-4679-4D63-B007-AED6DBEB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1B1A1-4F83-42DA-9C99-0DE5ED4A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E249B-A9A9-4933-97DE-A385EB29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6172C-29FB-46FA-A10A-55BEA44A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76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SIM offer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4DE53-457D-4D6A-A94B-88B37EC2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24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SIM issues an additional offer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D6D09-A103-47CF-BEA6-67FF9DAD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82632-4644-4AF7-A83B-E45FBA4A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0F417-5E08-4B46-A225-5A1CF6E7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E82C97-E9B2-4E58-B732-2DAE3367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38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CGU delivery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566B7-FFB2-4380-9CD0-46182BAC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86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CGU teaches 6-9 DMS modules with SIM-linked components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993883-9F52-4425-B4C3-77359215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62674F-6D06-4AF8-A1CC-0ACDB217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72224F-BBF2-4CDC-98DF-C0AF8FAC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90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07E700-3969-4468-AB43-4CE7EF3F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00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SIM Singapore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FED5B1-BB18-4ABB-AD1F-DCCEB2E6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48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Student may continue as SIM student; CGU status unresolved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E83001-920E-4C24-A992-CB706743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12F87D-E7F8-4C6D-9BAD-CF01CF88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4E4E70-66F8-4EEB-A1C7-FF5866BB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9144CF-4BAC-408D-BAB1-9FFA9F36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62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Optional CGU return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B9CCF7-66D1-4671-8FB5-8765FFEA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10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Return for enough credits/time only if the student wants a CGU degree</a:t>
            </a:r>
          </a:p>
        </p:txBody>
      </p:sp>
    </p:spTree>
    <p:extLst>
      <p:ext uri="{BB962C8B-B14F-4D97-AF65-F5344CB8AC3E}">
        <p14:creationId xmlns:p14="http://schemas.microsoft.com/office/powerpoint/2010/main" val="15356825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AEACF8-A2BC-4659-839C-56E13A53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CGU-SIM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E13E0-3BB8-476E-9D2D-669BE815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SIM’s OTC process creates a clear sequence of institutional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0D61F-1260-420D-B16F-D44264F5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2B7E3-7E75-44E2-B9ED-3419B104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585DE-04FA-4FFF-B0D0-C555F04F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4E8CF-AE0B-45BB-84D7-1C451AA2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371C9-7D06-4A34-B267-BE0F96CA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14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A4591-6B56-4221-B73F-F7C7A161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62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Completed form plus supporting 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9FADE-02E0-497A-AC0B-8491A213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2E8F7-33D8-454F-9DA3-9492C80E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E363F-9949-4DED-9648-6F8BF5BD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C2D6FA-21CD-4980-A0F9-691740E5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76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SIM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36EC8-2FF6-43D2-990E-7E9CA7C8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24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Completeness review and clarifications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8EC17-71D9-4E3D-84B0-E115E814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18FFC-4A83-4650-950C-4EF6C30F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9CCFE-915A-4AC4-ABAA-22F5702A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FD8E05-BDE8-4E7E-8F42-957BB016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38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Audit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DE038-DD53-4BBD-9954-B3EB7BA6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86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Onsite visit; applicant bears fees if any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5D296E-888F-4FFF-A8E9-6B908E27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CAF984-35F3-4674-8DED-2F311E7F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66DD0B-B143-4FE7-B800-F507F117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90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0C8BA2-A2BA-4DC5-B6BD-7D4B6F36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00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Staff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3093AB-23D0-4F0F-A1C3-08B8D305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48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Academic staff profiles reviewed online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85DE05-5978-445D-853D-F82B8947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3A2DE2-20D2-4778-A740-03B179C6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ADFA1F-10C7-4205-8613-BEE5CBB0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74B59D-6C3A-4AC9-85C4-ED623FB8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62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025D5C-5942-48F6-B4E9-042F2DDA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10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SIM final decision and agreement within 180 days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B56F1D-2035-44A2-AA31-9BCC28FE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1EFA0B-AC28-45AD-9E9E-DC4A6DEF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32B942-26B5-40D1-9BFF-ADE365BA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14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9A068A-89FD-4C46-853D-A0AC290C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24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Post-cohort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0EC86C-0892-460B-9655-8C32E5CF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72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Accreditation and annual progress review</a:t>
            </a:r>
          </a:p>
        </p:txBody>
      </p:sp>
    </p:spTree>
    <p:extLst>
      <p:ext uri="{BB962C8B-B14F-4D97-AF65-F5344CB8AC3E}">
        <p14:creationId xmlns:p14="http://schemas.microsoft.com/office/powerpoint/2010/main" val="10498272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C7AF13-EDA2-441D-8D43-757BDB21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CGU-SIM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EDA94-37DD-4C84-A1CD-5A69126A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DMS is a defined 15-month, 15-module, 630-hour programme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60689-2475-4AA0-90FD-10D7FF66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A0269-874F-4373-8F4F-9982C0CB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5022F-2D97-46F3-BBFF-6927905D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0E1D7-F8B2-459F-8A52-E4C51EDA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95371-F64B-4936-B16F-EC0AEA15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15 full-time months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A471F-123D-48AE-8C41-F329E59D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22669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27007-1E89-4C38-B3E4-90D35FA1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287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912B1-1AFF-47F6-9EDA-8B2FB7DB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287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66598-3183-4C7D-92E6-339D7988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62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15 subjects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068C7-297C-472D-A956-C87E97BD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24050"/>
            <a:ext cx="22669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42EA4-82A9-4618-AFFF-2F8E1751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287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2E048D-1029-4A45-AD03-E31F887D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287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B32"/>
          </a:solidFill>
          <a:ln xmlns:a="http://schemas.openxmlformats.org/drawingml/2006/main" w="9525">
            <a:solidFill>
              <a:srgbClr val="B26B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A67717-8B90-499E-A6D2-BCFF3228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62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42 contact hours per module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DA009-8F1F-4727-806F-B1237CFE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24050"/>
            <a:ext cx="22669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DB8EDC-06E0-4D1C-AB99-10752B60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287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27C28D-64BC-47F5-92CB-4F9A7E0F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287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23F"/>
          </a:solidFill>
          <a:ln xmlns:a="http://schemas.openxmlformats.org/drawingml/2006/main" w="9525">
            <a:solidFill>
              <a:srgbClr val="A6423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191B08-6659-43BE-98D3-2B6403F2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62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630 total contact hours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0E2ED0-E8DC-4D88-BBB5-48D685EF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24050"/>
            <a:ext cx="22669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89FF60-5387-453E-A101-C0401E6A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1. English For Business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2. Business Communications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3. Business Mathematics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4. Microeconomics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5. Macroeconomics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6. Business Law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7. Business Statistics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8. Operations Management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39D880-8434-4CBD-9E99-F1A9DF8F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28875"/>
            <a:ext cx="5334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9. Managerial Accounting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10. Information Systems for Business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11. Financial Accounting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12. Principles of Marketing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13. Managing Human Resources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14. Managing People and Organisations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15. Business Finance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374A44-D187-491F-B764-B0960E3F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0839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6B142B-F794-40CD-A5F4-7DD59882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B32"/>
          </a:solidFill>
          <a:ln xmlns:a="http://schemas.openxmlformats.org/drawingml/2006/main" w="9525">
            <a:solidFill>
              <a:srgbClr val="B26B3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5F1313-E329-42C0-A3C3-5DFF5CF8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9725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Control point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30A0D6-2E51-4E9F-A432-BCE50558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5346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Do not lock the CGU sequence yet: the DMS PDF differs from the xlsx Data-sheet DMS list.</a:t>
            </a:r>
          </a:p>
        </p:txBody>
      </p:sp>
    </p:spTree>
    <p:extLst>
      <p:ext uri="{BB962C8B-B14F-4D97-AF65-F5344CB8AC3E}">
        <p14:creationId xmlns:p14="http://schemas.microsoft.com/office/powerpoint/2010/main" val="15239563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69D46A-AE7F-4101-90BB-A6B3670A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CGU-SIM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29045-A32C-4239-B5EB-75A5D82A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The 6-module and 9-module options differ in staffing, timetable, and admissions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2DBD1-1C2B-4179-9721-2C9B0AF4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38CB2-56D2-4893-801E-DAB9961E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6C28B-806B-42CC-A701-C5CB5AE4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FD8EB-0920-455D-B83D-85B79DA0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2847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47D52-1680-4041-90D3-6AB4BFC2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Scenario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F113F-7C41-4979-B253-710E438B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476375"/>
            <a:ext cx="2847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F30E4-B536-40C9-A8D4-08F0A3CD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5430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72BBA-49D6-424E-BE15-E2E159F6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2847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38636-0C40-4C4D-80BE-B4D91AAA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430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5B6CA-B0AC-4689-9E00-360405D0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476375"/>
            <a:ext cx="2847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4E33D-AA2C-46E8-8FAD-4C23F129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5430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Primary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C6E93-180B-472C-A3E9-36B12E63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55A93-A4EA-4DFF-A944-54B067C4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76425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6-module CGU delivery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6B3792-A1A7-48D2-848B-2F6220C3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800225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A1ADC5-51D5-42A2-974B-9AEF3C94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876425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Faster Taiwan first stage; lower faculty load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A0243-95D4-408D-94DD-E4C83EE8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0225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E10DFF-BBE2-4B8D-A2F4-11E8605B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76425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At least 3 qualified teachers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247ED4-2F1A-4491-ACB6-3C9838AF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00225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F7EB0-0819-46D6-8897-579D2081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876425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MOE rejection plus thin CGU credit recovery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5B8BA7-E23E-4182-AAEC-EC332726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B94C12-A52C-43BE-8EC5-DC5BB5FD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14650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9-module CGU delivery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A51C0B-44DC-43CE-9218-9803D16B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838450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E33A4D-BB6C-4338-9BE9-993DF5FC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914650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More local preparation and mapping value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E8C2C8-5737-457F-A131-BD574F77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38450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531887-C889-4ACF-AAD3-63DC19C8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14650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At least 5 qualified teachers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DB6627-10E4-4BB0-8364-033A0FD0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838450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33D7E5-4A95-4162-A84A-345495DA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14650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Higher staffing, scheduling, and admissions-approval complexity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013457-FFC5-4528-90BB-C8418484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76675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A91E96-3911-4C9A-8505-E4D83F00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52875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OTC-only pilot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A2508A-AFB8-402E-BE84-A19CCABE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876675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BBA132-5EC9-4A5C-91B7-695DF61D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952875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Tests operations before pathway claims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EE368D-C59B-4307-85EA-6213C7F2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76675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049E5B-0D96-4BBB-A3B0-07AF47C9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52875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Can start with scoped DMS delivery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C15B4D-B61B-4D0F-A061-AA9F4379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876675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E219E1-1C9C-4082-979B-21EBA3C1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952875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Less compelling recruitment story; MOE still matters if recruiting a distinct cohort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2E182F-28D4-48C1-B8D7-13830137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46A091-947E-48B5-9202-968CA552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91100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Optional CGU return path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380934-409F-4CFB-A330-C971D60D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914900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2A25FE-E913-42FF-B9E7-007677A1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991100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Potential CGU degree completion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3FA082-2848-4351-8B56-DC8C0333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14900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0761A9-604F-4EBC-A7D6-D8CC215A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91100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Depends on return curriculum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296E46-8A82-4BFC-B51F-20DAF484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914900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F70270-E6C6-4B49-B075-4447B81B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91100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Cannot be marketed until rules are confirmed</a:t>
            </a:r>
          </a:p>
        </p:txBody>
      </p:sp>
    </p:spTree>
    <p:extLst>
      <p:ext uri="{BB962C8B-B14F-4D97-AF65-F5344CB8AC3E}">
        <p14:creationId xmlns:p14="http://schemas.microsoft.com/office/powerpoint/2010/main" val="13781228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6E0DBD-08D3-4626-B2AE-5C970B83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CGU-SIM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28672-EB68-4CA9-9E3E-1B05AE23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Credit, student status, and CGU-degree rules are the major internal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8735E-78D7-41F9-A169-75C44B09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95F63-5762-48D6-8F79-5F4F005B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49BC0-F2C0-4FAF-A1A4-C1BA9D03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42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7879D-57FE-4260-95DD-F1FB31FF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666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75A2F-1034-4A87-B64D-DDC39850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Credit rule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D0B5A-4F40-4803-AD01-D6D668B4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242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At least half of required CGU credits/time must be completed at CGU/Taiwan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Confirm whether the rule is measured by credits, elapsed time, residence, or a combination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5D5A5-F4DE-4DED-BF5B-45ADDF9D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81150"/>
            <a:ext cx="342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02AB2-E005-485A-AC8D-696E9FCF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81150"/>
            <a:ext cx="666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B32"/>
          </a:solidFill>
          <a:ln xmlns:a="http://schemas.openxmlformats.org/drawingml/2006/main" w="9525">
            <a:solidFill>
              <a:srgbClr val="B26B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74CD8-CFF3-49AD-AB89-C4518BCA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14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Status rule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D61905-65E4-4D9C-A092-B75F7C02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76450"/>
            <a:ext cx="31242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When students go to SIM, active CGU student status is unresolved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Likely options include leave of absence or withdrawal unless returning for CGU degree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9C686-33B9-4737-97C7-B24CB704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342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3FC165-1C5F-4538-8B57-08E7F1CE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666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285C9-FFED-4FB2-A796-546C63CE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Recovery rule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B319F-6828-494F-BF5C-BF6F5DB5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1242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SIM modules should not become wasted learning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Use required-course objectives or 抵修/course-equivalence mapping</a:t>
            </a:r>
          </a:p>
        </p:txBody>
      </p:sp>
    </p:spTree>
    <p:extLst>
      <p:ext uri="{BB962C8B-B14F-4D97-AF65-F5344CB8AC3E}">
        <p14:creationId xmlns:p14="http://schemas.microsoft.com/office/powerpoint/2010/main" val="5315402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3CE0CA-7967-4CBA-A5A4-1A51C9E3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CGU-SIM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1FAF8-942C-4150-860A-8E0EE494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The Application Form turns the idea into an evidence-pack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E523F-E164-41A7-BB5B-BD780901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6AB63-AC30-419E-BB1E-70CD91AC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508F2-E860-4A94-BAA6-5D3FD526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6C503-3CC7-4BB2-90DA-2FB45F23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46950-CA65-403A-9B70-79CFDC94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Application area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D6841-B2FA-4B0D-A823-3EFC9A6D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223E3-2AC7-4BC4-BE69-D6C4338C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CGU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90CF0-59B4-4D4D-AD78-94E1F370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8102E-1ABE-4C57-AE6C-DB99F651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Likely owner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64104-D1C5-4CF8-8F74-6D735901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DD572-97C2-4646-A0FF-CCDC7FC3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764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OTC identity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96E8A-25E7-4BA2-911D-E62BAEF7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8002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15D978-B103-4E5D-B144-BB948003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764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Legal name, registration, teaching site, signatory authority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611A88-1B60-4E4D-8EE0-B5F75FCA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8002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D3588-8E9C-4429-AFEA-C13B8320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8764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International affairs / legal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1D3FD9-CEE7-43F6-BC9A-AE04D83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23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816442-FF12-40BB-842F-D2BF5393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685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Current programmes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7CF887-BA5D-43E8-AAB6-E6AA18E3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4923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C8A378-3989-47E8-88DF-964FA84B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5685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Local/international programmes, enrolment, pathways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803C86-0B34-4400-B78F-A06D694C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4923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44DFEC-C1D9-46A4-8BE2-5EE85542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5685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College / departments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0D79A-B057-413C-89EE-5BA4E5A2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45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352F8E-E776-47CF-A236-9AC61A0F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07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Delivery plan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22C5EA-5A11-4FC3-A1AE-C0A08A9F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1845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63FC79-028B-40D1-9455-72D3052E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2607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Rationale, target group, timetable, assessment, disruption plan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488769-984F-4183-BB15-0C585B14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1845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4871C8-1464-4BE9-842A-713827C9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2607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Academic and operations leads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62CC14-559E-4ECC-A912-C4865D9F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766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19638D-3B43-48F8-8868-5B67B930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528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Staffing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723992-442F-48CC-BF60-3D185AD5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8766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7E1623-456C-47DE-BCCF-A0D41B81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9528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Faculty assignments, CVs, teaching profiles, certificates, transcripts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ED8C1F-8F88-4610-A870-B8202F3D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8766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424352-2A99-4A31-9475-67F8C9E2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9528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Staffing lead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44FACA-C99B-4058-A8A4-01B31AA0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688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A69DA8-EBB7-408F-8875-03B0783A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450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Facilities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26CD16-B361-4781-8499-5FAEB00C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45688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434C7E-3D54-4AF9-AF79-92B4377C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6450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Classrooms, learning resources, student support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2E25C5-A38F-49EF-96CC-E1649F2D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5688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68B51B-0AB5-4B3D-B2A8-5B28BF3D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6450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Operations lead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02CDDB-66A4-411B-93CA-08D7EA7B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609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360F70-5E41-4AB6-B748-693D5DBC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371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Recruitment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2B1A43-3FEF-4E8C-981C-CA593CA7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52609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685B02-6EE1-4EA5-8B92-5A73698C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53371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Admissions route, advising, intake projections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1B9208-3C3A-4FDB-9E4A-3568E7D3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52609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36C6F8-0FAC-48D4-8596-AFDD83AA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53371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Recruitment lead</a:t>
            </a:r>
          </a:p>
        </p:txBody>
      </p:sp>
    </p:spTree>
    <p:extLst>
      <p:ext uri="{BB962C8B-B14F-4D97-AF65-F5344CB8AC3E}">
        <p14:creationId xmlns:p14="http://schemas.microsoft.com/office/powerpoint/2010/main" val="20873498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1E147F-A68D-4E46-AE5C-710DB865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CGU-SIM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48010-13B1-4A0A-A0AC-BC5B9DC4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Staffing is a likely bottleneck because SIM limits each teacher to two 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0BBEF-DA0A-4FB4-9EBF-32851585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5DDF9-5C8B-4A7A-8796-E42AE6D5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77C24-F8AF-46EC-A9A4-96F64B1E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839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5AFE3-7DF7-4BD4-B78A-5C75C276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0F6C9-AC3C-46B3-A019-DE1F0F8C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Core judgment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14A38-3010-42FA-A6C2-A84664EA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053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The 6-module option needs at least 3 qualified English-capable faculty; the 9-module option needs at least 5, assuming no teacher exceeds two modules.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0CFE2-A407-4A80-A434-0A3D8920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713"/>
                </a:solidFill>
              </a:defRPr>
            </a:pPr>
            <a:r>
              <a:rPr sz="1425" b="0">
                <a:solidFill>
                  <a:srgbClr val="111713"/>
                </a:solidFill>
              </a:rPr>
              <a:t>• Each teacher profile requires personal details, citizenship, module assignment, experience, qualifications, English proficiency, current institution, certificates, and transcripts.</a:t>
            </a:r>
          </a:p>
          <a:p xmlns:a="http://schemas.openxmlformats.org/drawingml/2006/main">
            <a:pPr algn="l">
              <a:defRPr sz="1425" b="0">
                <a:solidFill>
                  <a:srgbClr val="111713"/>
                </a:solidFill>
              </a:defRPr>
            </a:pPr>
            <a:r>
              <a:rPr sz="1425" b="0">
                <a:solidFill>
                  <a:srgbClr val="111713"/>
                </a:solidFill>
              </a:rPr>
              <a:t>• Information Systems for Business and Business Statistics align with Information Management strengths.</a:t>
            </a:r>
          </a:p>
          <a:p xmlns:a="http://schemas.openxmlformats.org/drawingml/2006/main">
            <a:pPr algn="l">
              <a:defRPr sz="1425" b="0">
                <a:solidFill>
                  <a:srgbClr val="111713"/>
                </a:solidFill>
              </a:defRPr>
            </a:pPr>
            <a:r>
              <a:rPr sz="1425" b="0">
                <a:solidFill>
                  <a:srgbClr val="111713"/>
                </a:solidFill>
              </a:rPr>
              <a:t>• Accounting, finance, marketing, HR, operations, law, and economics require broader Management College mapping.</a:t>
            </a:r>
          </a:p>
          <a:p xmlns:a="http://schemas.openxmlformats.org/drawingml/2006/main">
            <a:pPr algn="l">
              <a:defRPr sz="1425" b="0">
                <a:solidFill>
                  <a:srgbClr val="111713"/>
                </a:solidFill>
              </a:defRPr>
            </a:pPr>
            <a:r>
              <a:rPr sz="1425" b="0">
                <a:solidFill>
                  <a:srgbClr val="111713"/>
                </a:solidFill>
              </a:rPr>
              <a:t>• Incomplete submissions may prevent SIM review from proceeding.</a:t>
            </a:r>
          </a:p>
        </p:txBody>
      </p:sp>
    </p:spTree>
    <p:extLst>
      <p:ext uri="{BB962C8B-B14F-4D97-AF65-F5344CB8AC3E}">
        <p14:creationId xmlns:p14="http://schemas.microsoft.com/office/powerpoint/2010/main" val="1238389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1058E6-AEEA-4C89-8EDF-623E500D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CGU-SIM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BC577-E5C9-4824-A5FE-A4A9EFED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The task force should assign accountable leads, not just discussion owners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4449E-8CEF-4036-864F-165FDC36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511D5-5AB5-4197-AFEE-6B41BC87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D426F-49BB-40D5-824C-13657162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3F2F5-3155-4AD2-8FA0-780C5B50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C21EC-994D-4352-B49E-40249F25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Workstream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15C7B-A86F-4C56-8FA0-5892CB90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CDAC8-17C9-40E6-9C92-5D9532EC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Lead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4BC16-ECDC-4A6A-B47A-DC191D72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00FA3-415A-4AC6-88A5-D21E052A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First deliverable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852BA-79E0-4B97-B1DC-197A8944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8249C-7E57-4CFA-BBD6-8540D198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76425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Executive sponsor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FEECE1-26B0-4C62-A731-26229C07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800225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2312C-6978-4666-80A6-5ED0B2A3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76425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Project sponsor or designee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38806-88DB-4712-B973-077C7CCE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800225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83CC0-9DF8-4F39-808F-C8161651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876425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Mandate and decision 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6CD792-274E-45F3-9828-C3AD5D4B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19338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7804B-65BA-4A4B-B60D-FE078933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95538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Academic mapping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723DE1-A630-4936-A87E-F27B2A1D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319338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11FD44-89EA-49AE-B2A9-FCC5B597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395538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College / department lead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A791D4-D934-4CC6-94F7-EB42D796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19338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085D27-DB6B-460A-89EB-6CD5BB34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395538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DMS mapping and 6/9 recommendation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470DD7-A044-4D20-991F-13E087F0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742B6B-8A76-4181-93E9-0DDA5DAA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14650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Academic Affairs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A4F87D-A6C8-4043-A604-D388E022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838450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B03A79-D187-466D-BADD-708FF935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914650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教務處 lead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DFE3B6-7015-488A-84EE-BDAB301F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838450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AB2D68-A5A5-4CA2-8E66-47536A68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914650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Credit, 抵修, status, degree rule memo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1B15C3-15F2-4002-8C42-D7F91DED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7563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6CDB94-BE80-429D-8EDE-0F648D46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33763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Legal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9F1FFB-343B-47ED-BA8F-1E585676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357563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2A35CB-9D7F-4DBC-B1E4-A08ACD3A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433763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法務 lead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CD1973-4547-4D32-AF7E-4DE15B3D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357563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E503E7-6152-4B9C-8DC5-43B25211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433763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NDA and no-publicity review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4B48E5-C099-4873-8940-6909F6E5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76675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AFFC49-0E89-4A1E-9C60-9C8E1942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52875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SIM liaison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F1864A-6CFC-473B-8BD6-31324F69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876675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2C6683-319E-4021-A526-87899BEA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952875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International affairs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89EA66-4F9F-46C4-824B-2290108C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876675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9CB26E-CA76-4042-82D9-1730DFE8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952875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Clarification log and document exchange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2F2983-EB68-434B-A2FC-9C9022E9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95788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D3FC40-6BCD-4A40-87A3-1061856C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1988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Operations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AF1C98-3912-4D9E-9885-EDD3BD6E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4395788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17E6D9-8419-463F-9BD0-88970786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471988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Operations lead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975F67-F20F-4E8D-996A-551187AD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395788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8D1704-A263-41AD-A824-1A21F9E6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471988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Timetable, facilities, exam logistics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900380-E492-4461-8F78-BE6F0AE3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9C492F-AB9A-4D25-8CA4-00F8A575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91100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Recruitment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FF8151-9DE4-4502-A18F-CAE21274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4914900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A242E4-5494-483E-A21F-D26BF3A8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991100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Recruitment/advising lead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BDA1EC6-8D4B-4BBE-9B59-0145A21E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914900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C754888-62C3-47B4-B935-DA24AECC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991100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Compliant advising model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40706F-DCC6-480B-BACD-E907F599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34013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41800DE-7E2D-45C2-B862-4CE84136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10213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Finance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87329DF-E7E1-4D70-A057-B180FA0D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5434013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94A933-A1CC-4303-BD4B-7729B302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5510213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Business-case lead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F563FBF-D683-4F2E-8A88-DC5276B1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5434013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4D73C7A-6D16-4387-9978-24C33E91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5510213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Fee and cost model after Annexes</a:t>
            </a:r>
          </a:p>
        </p:txBody>
      </p:sp>
    </p:spTree>
    <p:extLst>
      <p:ext uri="{BB962C8B-B14F-4D97-AF65-F5344CB8AC3E}">
        <p14:creationId xmlns:p14="http://schemas.microsoft.com/office/powerpoint/2010/main" val="17559078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49A473-C057-43B0-B3CF-7E8021DC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CGU-SIM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6591A-2E0A-459A-B3FC-0061C769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A realistic roadmap should follow phases and approval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4060C-356F-4680-B71A-3F8E65FF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3A286-8964-4518-A833-E85FA1B7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5FDB0-B5DD-4C46-93D1-6CBB5B7D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70A2A-E341-407E-A067-4F080686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DCF25-0D8E-43A3-ABB6-746CA3EF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14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Internal alignment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52C8A-227A-4706-89ED-8BB1A3EB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62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Task force, legal review, Academic Affairs ruling request, admissions/MOE route assessment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52A4A9-295A-443C-B8BF-880A388C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84A18-2525-4D03-81FE-8264AD5D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85E46-8AAF-4C9C-B4D8-33F6FB00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9AD38-83DA-4B0F-A87B-01E1411A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76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Clarification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8F4145-9EBE-4F5D-98B3-0BC4103F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24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NDA if approved, Annex review, SIM questions, independent-admissions concept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E53285-D3D9-405F-99BF-5E6C9D70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CCF32-7E72-475B-96CD-E21597F2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0E72A-861B-472E-A085-9D861297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DDEE5-EACE-4780-8C87-6B0EE6DD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38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Evidence build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112763-153F-49D0-90BE-804A66E2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86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OTC pack, staffing profiles, academic mapping, admissions rationale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82C97D-F60D-4199-BE48-87D2135E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4AC555-73E0-4C43-BD50-E0307C28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EDB7FD-EE92-4996-BB30-762C9D4A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90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276E99-A6A4-4978-9BA8-ECF69E58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00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External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834844-6BAB-4CF0-866B-DCD5E1FD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48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SIM review and audit plus MOE admissions submission and clarification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93627C-F830-48C6-9395-E98F5364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7C4683-AEE7-4C52-B54B-838FE7A6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EB3980-9821-48B4-BF0A-6E72E737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1E0768-C17C-4AFD-A7DC-A986698C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62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Dual approval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CBD612-33CF-4985-970E-172A62E2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10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Formal agreement and approved recruitment/advising terms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E791A2-D7D6-4AE2-9714-D963B81D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9F0A56-AB8F-4549-86E2-EA710F2F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9E9634-F1B6-4371-97EE-D6D5BD16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14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8A96BB-F953-4406-8DF2-68DAD28C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24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Launch readiness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0A0B55-1518-404A-BD4D-60A90651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72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Operations, first cohort, accreditation, annual review</a:t>
            </a:r>
          </a:p>
        </p:txBody>
      </p:sp>
    </p:spTree>
    <p:extLst>
      <p:ext uri="{BB962C8B-B14F-4D97-AF65-F5344CB8AC3E}">
        <p14:creationId xmlns:p14="http://schemas.microsoft.com/office/powerpoint/2010/main" val="9481256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B23643-9D88-492A-8AC7-469869CD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CGU-SIM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C5799-B8CB-42AA-B672-F82DA157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The risk register argues for a staged feasibility phase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C9EF4-77FF-4B22-8F3B-A4F54E10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3F378-7B99-4013-AD2F-1140A7E9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BB839-8D8A-41D9-90EA-902EFE9C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6321A-3E00-4237-A528-7A14E754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47EE6-82AC-4C98-8D98-A323B170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Level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2591C-0D60-4FBF-92DF-20677B97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9627D-94FD-4C86-9092-74D57BD3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9AA5C-EC7D-4724-A50D-57E80006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A54E1-4A5A-4D61-BCBA-3B6A6375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Mitigation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C82FD-202A-496F-82C4-5B5867ED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DC013-DA9F-468F-8ACF-50D4B000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76425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High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195E9-FD35-4C5E-BCE7-85F76E6F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800225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BFFF17-559E-4741-AED6-4866A510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76425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MOE may reject independent admissions for the CGU-SIM cohort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D73F5-69F9-4F44-9194-5027C5D3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800225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7A7098-7A44-4BEF-B0A6-95E4D532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876425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Treat MOE permission as a go/no-go gate equal to SIM approval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17BEBA-2890-4704-901E-2088AA22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68563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D33EEE-508D-4928-A057-65DD4EB4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44763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High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3658D-8198-4E4B-935E-16213E8E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468563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E36B01-A5B4-41AF-998D-CBF47B5B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544763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CGU/Taiwan credit or residence rule blocks an easy dual-degree 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AF7BB9-C498-4319-84A1-80398727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468563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C0ED6B-2B38-468F-B829-BBED3A5B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544763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Position CGU degree as optional pending 教務處 ruling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9618C3-774B-42F8-925A-F329843E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36900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493258-C55B-4EB4-A308-2100F5A6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13100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High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02BAC2-DFDA-4FF0-99E6-C0D5C0D6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136900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678DF6-C034-4166-9877-358820AB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213100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Student status during Singapore phase is unresolved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B6F5A1-46F9-457F-978C-643A6864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136900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672B48-DEF4-4B13-8E51-747FE013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213100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Define leave/withdrawal/return decision tree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6D8380-7809-43DA-A17A-380E9728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05238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F188B1-3E36-4870-B649-7740FC9D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1438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High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A79E80-4F7D-4520-91F2-15A8765D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805238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A4E6EA-E24C-446E-88B9-38B34BD5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881438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Faculty bottleneck for 6-9 modules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E3C4A5-5EC1-4770-A633-E0B82143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805238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2F734C-CA4D-4716-83F0-190E7448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881438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Inventory qualified English-medium faculty before scope decision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9A03BA-BFD1-49D8-8E01-A409835A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3575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D039DD-DE6D-4D41-9E3A-13AC7E45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49775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High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E9A582-4C9B-4B88-8F8F-37AC6AD7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4473575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BBAE8E-D2D3-499C-9FC6-76FABEAC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549775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NDA no-publicity clause limits recruitment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3D0550-3B8C-4CE7-A83E-3818ED14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473575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E638CF-A16B-4893-A582-CE7879B7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549775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No public claim without legal/SIM permission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037A9F-72EB-4A4F-9E3A-E34129A9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1913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1EF29E-3601-4C57-86F7-E90F0805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8113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Medium-high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120DEE-3A3C-4BC0-BC17-9F4DC9E7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5141913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B5B908-F69D-49F5-82F1-96FDAE73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5218113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SIM synchronous schedule may not align with CGU semesters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263F82-B0FC-426E-AA1D-A88E5722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5141913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90494D-ED80-4268-8C4C-77CCFB70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5218113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Build timetable from SIM cycles</a:t>
            </a:r>
          </a:p>
        </p:txBody>
      </p:sp>
    </p:spTree>
    <p:extLst>
      <p:ext uri="{BB962C8B-B14F-4D97-AF65-F5344CB8AC3E}">
        <p14:creationId xmlns:p14="http://schemas.microsoft.com/office/powerpoint/2010/main" val="841435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AE4518-CE31-4352-B294-2D4056A3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CGU-SIM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77CF6-E77E-48EC-99FE-8DF28809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Open questions must be owned by CGU and SIM workstreams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10F50-1224-4FF9-85E3-DB02C545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00C10-3E13-4039-AE31-C453B182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498EA-B7D4-445C-8661-E988BABB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42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834E2-630B-4926-9821-0349123D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666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3D0CD-1C44-4883-8FB0-7CFC0DDF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Admissions / MOE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64644-3FBA-41A1-B796-99F6F3B4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242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Independent-admissions route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Tuition and quota treatment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Student-status disclosure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Failure path if permission is denied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936FB-DFD6-4A65-98A0-20175086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81150"/>
            <a:ext cx="342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39429-E4CA-4755-8EB3-4383F2C5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81150"/>
            <a:ext cx="666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B32"/>
          </a:solidFill>
          <a:ln xmlns:a="http://schemas.openxmlformats.org/drawingml/2006/main" w="9525">
            <a:solidFill>
              <a:srgbClr val="B26B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30245-6331-46CF-9AE2-6BA58DC6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14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Academic Affairs / Legal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4D94F-02C2-4BA8-BCDB-0B3EA2F4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76450"/>
            <a:ext cx="31242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Credit/time/residence rule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Student status during SIM phase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Singapore law and jurisdiction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Publicity restrictions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62054-FDC9-45A9-B203-8DA6742A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342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6278F-9C6A-4FD9-B416-D2153E03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666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B7C1B-A45B-4184-A71F-2688184D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SIM / Jessy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62593-A907-4A5A-9A93-678248B8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1242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DMS sequence and 6/9 modules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Exact delivery split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Online schedule flexibility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Exam marking, fees, cohort threshold</a:t>
            </a:r>
          </a:p>
        </p:txBody>
      </p:sp>
    </p:spTree>
    <p:extLst>
      <p:ext uri="{BB962C8B-B14F-4D97-AF65-F5344CB8AC3E}">
        <p14:creationId xmlns:p14="http://schemas.microsoft.com/office/powerpoint/2010/main" val="94471885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4A1885-2815-4CA5-BA3D-13FE7118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CGU-SIM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10BC7-1B81-434D-973C-40780DC1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The next decision should open an evidence-gathering mandate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75925-E267-4DD7-9177-8EF486F5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75DFC-8D26-415F-AC4F-179F847A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18F46-D224-442B-91B5-CEA6D052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839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A28B7-A206-4B70-A1FF-E6DCB05D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22446-7A73-4624-9AFC-3F8862B3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Core judgment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10666-70BD-44DA-B62E-B3020C86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053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Recommended decision: proceed with a structured feasibility and application phase, not a public collaboration launch.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C41668-FE52-4F36-B852-92836DDD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713"/>
                </a:solidFill>
              </a:defRPr>
            </a:pPr>
            <a:r>
              <a:rPr sz="1425" b="0">
                <a:solidFill>
                  <a:srgbClr val="111713"/>
                </a:solidFill>
              </a:rPr>
              <a:t>• Start with DMS and compare the 6-module and 9-module models.</a:t>
            </a:r>
          </a:p>
          <a:p xmlns:a="http://schemas.openxmlformats.org/drawingml/2006/main">
            <a:pPr algn="l">
              <a:defRPr sz="1425" b="0">
                <a:solidFill>
                  <a:srgbClr val="111713"/>
                </a:solidFill>
              </a:defRPr>
            </a:pPr>
            <a:r>
              <a:rPr sz="1425" b="0">
                <a:solidFill>
                  <a:srgbClr val="111713"/>
                </a:solidFill>
              </a:rPr>
              <a:t>• Treat the CGU-degree return path as second-stage design.</a:t>
            </a:r>
          </a:p>
          <a:p xmlns:a="http://schemas.openxmlformats.org/drawingml/2006/main">
            <a:pPr algn="l">
              <a:defRPr sz="1425" b="0">
                <a:solidFill>
                  <a:srgbClr val="111713"/>
                </a:solidFill>
              </a:defRPr>
            </a:pPr>
            <a:r>
              <a:rPr sz="1425" b="0">
                <a:solidFill>
                  <a:srgbClr val="111713"/>
                </a:solidFill>
              </a:rPr>
              <a:t>• Sign the NDA only after legal review and signatory approval.</a:t>
            </a:r>
          </a:p>
          <a:p xmlns:a="http://schemas.openxmlformats.org/drawingml/2006/main">
            <a:pPr algn="l">
              <a:defRPr sz="1425" b="0">
                <a:solidFill>
                  <a:srgbClr val="111713"/>
                </a:solidFill>
              </a:defRPr>
            </a:pPr>
            <a:r>
              <a:rPr sz="1425" b="0">
                <a:solidFill>
                  <a:srgbClr val="111713"/>
                </a:solidFill>
              </a:rPr>
              <a:t>• Run SIM review and MOE admissions-permission work as intertwined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7644001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85FF3C-464F-4363-AE0B-F62ADE5C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CGU-SIM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70670-EBC7-4948-A90D-EBFF5D62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Immediate next actions should be owned without forcing fixed week bounds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1D67A-0542-4CEC-B808-334EDE33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892BD-48D9-4A85-A929-DD79ECD8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4D3F6-C330-48AF-AC14-EBCF1967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4860F-A52B-4888-8684-4EE601EB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50566-DCFA-42EB-84EE-B45A5FBE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188DE-3377-4307-9135-F86454DF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12B53C-9FA5-475C-A5F8-E376870E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14F37-CA25-4F2C-9F5E-33CB63C9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35FC6-EAA9-4F58-87E0-73F76930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Phase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155D0-BEF1-4741-A818-DEF5632E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F7FE5-A80A-4A2C-BA55-786BC655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764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Name project sponsor and leads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A8F1B-5190-4F8F-87FC-DDDD1A21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8002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0D1A8-3B45-4EAF-81C8-48F72A48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764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Project sponsor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CC147-6B2D-42B2-AEAF-3D63A34A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8002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7AB425-B987-43D4-A487-C0C06498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8764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Initiation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745BA-A622-4403-B9ED-BD585201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23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795307-D277-4FE9-898D-6EBC7995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685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Confirm MOE independent-admissions route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23319C-8F44-4A7C-8B10-F0E02D0D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4923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6702C6-0960-45A7-8701-9F92128A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5685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Admissions / Academic Affairs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FD82EE-01AF-4F45-A38C-95BCE545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4923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B136C5-A73F-41A1-B9F0-89E513D3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5685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Policy framing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642FD7-A223-49F1-AFF1-4096F8ED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45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E70AE3-4D80-4034-A02C-87F66443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07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Open NDA legal 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269C92-6CA0-4378-BDE0-EAC83378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1845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D0A41A-161D-49CB-9FFA-4CBE3522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2607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Legal / International Affairs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341C79-386E-4E1A-AA8C-CFB0CB23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1845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672CF8-F8F4-437E-9C0E-EDF09BAF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2607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Legal gate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45EE6E-47D8-45DD-AB89-A532A1FB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766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F9E9FC-8FCE-4EE2-8B47-BFD85E29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528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Request Academic Affairs ruling memo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768A1C-DF93-4A5A-A4CF-9AE5E8C4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8766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663B29-2C2E-4200-99A4-7345888B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9528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Academic Affairs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36985E-D532-403A-AFB4-77A8BD0E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8766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0B7FAE-5145-4569-AAD5-D4CAFC2F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9528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Academic rules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92D4F4-0AF7-494E-AFB8-8E482CAE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688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F1F52D-4201-45FB-87BB-2E2C0A55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450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Build faculty readiness matrix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3752D8-1355-4D4B-A559-4A4C2FAC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45688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0832CA-74C6-4336-98E6-691F13EA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6450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Staffing lead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6D2566-D4E9-4A0D-A2E9-29A85D99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5688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33BC76-E08A-4448-B8F9-849EE27F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6450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Evidence build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5F3989-1025-4326-82D2-461F2030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609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9F14EC-4963-4AE7-A4BF-5431C569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371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Draft SIM clarification list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AEEA5C-3AE7-4D8A-B557-9D3AA3F3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52609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782AAB-511A-4A98-8E1F-098D37F8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53371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SIM liaison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B9D1AA-6229-4E1D-947B-B1510620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52609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ADA0FF-53B8-4B3E-BEBF-BCE2AC59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53371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Clarification</a:t>
            </a:r>
          </a:p>
        </p:txBody>
      </p:sp>
    </p:spTree>
    <p:extLst>
      <p:ext uri="{BB962C8B-B14F-4D97-AF65-F5344CB8AC3E}">
        <p14:creationId xmlns:p14="http://schemas.microsoft.com/office/powerpoint/2010/main" val="6375985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27498C-E99D-4B05-A85E-349B02FA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CGU-SIM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5ADC1-D1D6-4AA4-8A3C-5682B3ED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Appendix: source notes for major claims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13534-20F5-4F92-A193-99104CB0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C40CF-1E5E-4B11-AB99-2A26D530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DED84-F0A2-4CF1-84C5-A43CB194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06626-D83D-4A37-87F9-A82DBE75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7DAF4-A73C-4AAD-976A-4F087C43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Claim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2CBE6-1290-4062-B338-E36608AA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0983F-E007-4CC7-9FE8-BBDCF8DB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EECE6-1787-4BCD-BAF1-42B7ED8C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AF2ED-7CE6-4C0B-8050-3F2C50F2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B0F8E-F588-4B44-80E5-69554D7B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8C31BC-A8A8-4B4A-810E-B3760E0F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76425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CGU admission + SIM additional offer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DF2EE-AAE6-4E37-A40C-B3CF36F8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800225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4CB61-4AA0-4AC8-A746-3C9640E8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76425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June 9, 2026 conversation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369B66-0CCA-4392-9799-21E8270F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800225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07DAEB-F5EA-4EA2-9FA2-FB896896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876425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Confirmed by conversation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F75A0-8E22-48BC-A122-FF8D2691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19338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B343C0-63F8-41EE-9847-F1488FE0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95538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Admissions rules require MOE approval before implementation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DA0D6A-42C9-4F52-9426-E651B83D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319338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C8761C-517C-4110-8E43-5E7CF799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395538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Taiwan University Act Article 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7284C0-FD6F-43EE-B5F5-48AD0FCB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19338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82CF67-44EB-41A4-B42A-33160CC5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395538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Confirmed by law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AD2422-C3DD-4D3A-B0BD-B4C56ABF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778376-94F5-4A99-A173-C01741D2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14650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OTC application, audit, 180-day agreement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7EAC05-0188-4C41-A213-CC1CDBBC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838450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F29ECE-D964-4BD8-9EC0-10AE45D8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914650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OTC Guide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E8B97B-9B85-44AD-BB0C-BBBC1D90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838450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C4424C-5619-4CC8-B3AE-EE364435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914650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Confirmed by SIM document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41DAD6-39DD-4785-93A6-C15CCEE2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7563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C71AA9-1A7E-4DD0-9974-80100923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33763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DMS 15 modules / 630 hours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309CD9-DA0B-4D56-BEE7-60D48FD1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357563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8F207B-2F7D-441B-8DEB-5611F3CD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433763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DMS Course Info PDF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2FADAE-5FC4-497E-902E-4423C0B2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357563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ECE518-8BFF-4D6E-AD9C-C2187075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433763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Confirmed by SIM document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BB4401-2DCD-458B-820E-B5EE3C5B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76675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87A022-A826-4A6F-AC4E-7B12B9E8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52875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DMS 6/9 module options and blended hours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ADC2A2-ECBA-431A-B5C9-A547CBFE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876675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7372BD-B15A-4AD6-B415-2885DEA3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952875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Application Form Appendix 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739C7C-0770-4839-A49E-EC12C30C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876675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3D97A2-3DA9-4174-9EA2-421D3AF7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952875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Confirmed by SIM document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E0E067-166B-47FD-A9B0-E6FC7801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95788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9B3930-A2A3-44A9-A36D-759E0073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1988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Max two modules per teacher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E3FAA8-62EA-4C31-9BC8-89E2098B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4395788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D173C5-41FE-46A1-8085-AE3FE199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471988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Teaching Profile xlsx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6A7563-DBDD-415C-BB27-2F9C6E3B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395788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646FAD-F6A3-4942-80C4-7EDE9B13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471988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Confirmed by SIM document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C31833-B827-49EC-ABDB-FA733377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10B56C-50C5-4C34-A972-3642A934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91100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No-publicity and Singapore law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6ECD9B-6025-4FC6-937C-455A4633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4914900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0CDA69-88CC-4CFE-ADBE-20557DF3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991100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NDA template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B74B96-B00B-435B-850D-319CAFD7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914900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67D4D4-3093-4D27-B2E2-0FDDE199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991100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Confirmed by SIM document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3CFD8A-BFCC-48D4-8B7C-45DBBA48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34013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A248BF-FD94-416E-9332-76272DD5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10213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Either SIM or MOE rejection blocks launch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376BB8D-2981-4005-A982-7B2CB3B4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5434013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F8D9D40-5499-436C-A006-27C1B17C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5510213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Synthesis of OTC Guide and University Act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AC0623-7A57-4457-B341-354214E2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5434013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D5D9BB-B062-47DC-B363-610A017F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5510213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Briefing conclusion</a:t>
            </a:r>
          </a:p>
        </p:txBody>
      </p:sp>
    </p:spTree>
    <p:extLst>
      <p:ext uri="{BB962C8B-B14F-4D97-AF65-F5344CB8AC3E}">
        <p14:creationId xmlns:p14="http://schemas.microsoft.com/office/powerpoint/2010/main" val="251215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2026-07-10T20:10:00.6100000Z</dcterms:created>
  <dcterms:modified xsi:type="dcterms:W3CDTF">2026-07-10T20:10:00.6110000Z</dcterms:modified>
</coreProperties>
</file>