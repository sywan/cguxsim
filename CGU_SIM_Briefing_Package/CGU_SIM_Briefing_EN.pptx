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5a96df9c84477c" /><Relationship Type="http://schemas.openxmlformats.org/officeDocument/2006/relationships/extended-properties" Target="/docProps/app.xml" Id="Rd9f52249421f443c" /><Relationship Type="http://schemas.openxmlformats.org/officeDocument/2006/relationships/officeDocument" Target="/ppt/presentation.xml" Id="Rb86a20f5291a43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3c42571335431b"/>
  </p:sldMasterIdLst>
  <p:notesMasterIdLst>
    <p:notesMasterId xmlns:r="http://schemas.openxmlformats.org/officeDocument/2006/relationships" r:id="R718a1e0b78764d38"/>
  </p:notesMasterIdLst>
  <p:sldIdLst>
    <p:sldId xmlns:r="http://schemas.openxmlformats.org/officeDocument/2006/relationships" id="256" r:id="Rda717dcf0e1740f6"/>
    <p:sldId xmlns:r="http://schemas.openxmlformats.org/officeDocument/2006/relationships" id="257" r:id="R5070d00b1e234c78"/>
    <p:sldId xmlns:r="http://schemas.openxmlformats.org/officeDocument/2006/relationships" id="258" r:id="Ra693ebb22cf14fd9"/>
    <p:sldId xmlns:r="http://schemas.openxmlformats.org/officeDocument/2006/relationships" id="259" r:id="Rdc3aeddec0a54c71"/>
    <p:sldId xmlns:r="http://schemas.openxmlformats.org/officeDocument/2006/relationships" id="260" r:id="R0c35af31b71448c1"/>
    <p:sldId xmlns:r="http://schemas.openxmlformats.org/officeDocument/2006/relationships" id="261" r:id="R8f9b31c9b9414785"/>
    <p:sldId xmlns:r="http://schemas.openxmlformats.org/officeDocument/2006/relationships" id="262" r:id="R94a9cb713f7647e5"/>
    <p:sldId xmlns:r="http://schemas.openxmlformats.org/officeDocument/2006/relationships" id="263" r:id="Rd2bb11fcb045417d"/>
    <p:sldId xmlns:r="http://schemas.openxmlformats.org/officeDocument/2006/relationships" id="264" r:id="R26a249a94d0e4e66"/>
    <p:sldId xmlns:r="http://schemas.openxmlformats.org/officeDocument/2006/relationships" id="265" r:id="R7632426ffde4424b"/>
    <p:sldId xmlns:r="http://schemas.openxmlformats.org/officeDocument/2006/relationships" id="266" r:id="R7c402c6f47ff4e11"/>
    <p:sldId xmlns:r="http://schemas.openxmlformats.org/officeDocument/2006/relationships" id="267" r:id="R7c9ecbf7b4e94526"/>
    <p:sldId xmlns:r="http://schemas.openxmlformats.org/officeDocument/2006/relationships" id="268" r:id="R14328ba0dae74ff7"/>
    <p:sldId xmlns:r="http://schemas.openxmlformats.org/officeDocument/2006/relationships" id="269" r:id="R5fccad8b8d9f4070"/>
    <p:sldId xmlns:r="http://schemas.openxmlformats.org/officeDocument/2006/relationships" id="270" r:id="Re096dbef8fd047b1"/>
    <p:sldId xmlns:r="http://schemas.openxmlformats.org/officeDocument/2006/relationships" id="271" r:id="Re95e856c242d4928"/>
    <p:sldId xmlns:r="http://schemas.openxmlformats.org/officeDocument/2006/relationships" id="272" r:id="R9840744ffcb940dd"/>
    <p:sldId xmlns:r="http://schemas.openxmlformats.org/officeDocument/2006/relationships" id="273" r:id="R67dd2c40832448ef"/>
    <p:sldId xmlns:r="http://schemas.openxmlformats.org/officeDocument/2006/relationships" id="274" r:id="R36b1e78ba4ec433e"/>
    <p:sldId xmlns:r="http://schemas.openxmlformats.org/officeDocument/2006/relationships" id="275" r:id="Rfc6527e4a7774065"/>
    <p:sldId xmlns:r="http://schemas.openxmlformats.org/officeDocument/2006/relationships" id="276" r:id="R13713904d3dc4ed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8c060af491487a" /><Relationship Type="http://schemas.openxmlformats.org/officeDocument/2006/relationships/slideMaster" Target="/ppt/slideMasters/slideMaster1.xml" Id="R823c42571335431b" /><Relationship Type="http://schemas.openxmlformats.org/officeDocument/2006/relationships/notesMaster" Target="/ppt/notesMasters/notesMaster1.xml" Id="R718a1e0b78764d38" /><Relationship Type="http://schemas.openxmlformats.org/officeDocument/2006/relationships/presProps" Target="/ppt/presProps.xml" Id="Rbc34576efbba4715" /><Relationship Type="http://schemas.openxmlformats.org/officeDocument/2006/relationships/tableStyles" Target="/ppt/tableStyles.xml" Id="Rf916d1d2c2eb4e68" /><Relationship Type="http://schemas.openxmlformats.org/officeDocument/2006/relationships/slide" Target="/ppt/slides/slide1.xml" Id="Rda717dcf0e1740f6" /><Relationship Type="http://schemas.openxmlformats.org/officeDocument/2006/relationships/slide" Target="/ppt/slides/slide2.xml" Id="R5070d00b1e234c78" /><Relationship Type="http://schemas.openxmlformats.org/officeDocument/2006/relationships/slide" Target="/ppt/slides/slide3.xml" Id="Ra693ebb22cf14fd9" /><Relationship Type="http://schemas.openxmlformats.org/officeDocument/2006/relationships/slide" Target="/ppt/slides/slide4.xml" Id="Rdc3aeddec0a54c71" /><Relationship Type="http://schemas.openxmlformats.org/officeDocument/2006/relationships/slide" Target="/ppt/slides/slide5.xml" Id="R0c35af31b71448c1" /><Relationship Type="http://schemas.openxmlformats.org/officeDocument/2006/relationships/slide" Target="/ppt/slides/slide6.xml" Id="R8f9b31c9b9414785" /><Relationship Type="http://schemas.openxmlformats.org/officeDocument/2006/relationships/slide" Target="/ppt/slides/slide7.xml" Id="R94a9cb713f7647e5" /><Relationship Type="http://schemas.openxmlformats.org/officeDocument/2006/relationships/slide" Target="/ppt/slides/slide8.xml" Id="Rd2bb11fcb045417d" /><Relationship Type="http://schemas.openxmlformats.org/officeDocument/2006/relationships/slide" Target="/ppt/slides/slide9.xml" Id="R26a249a94d0e4e66" /><Relationship Type="http://schemas.openxmlformats.org/officeDocument/2006/relationships/slide" Target="/ppt/slides/slide10.xml" Id="R7632426ffde4424b" /><Relationship Type="http://schemas.openxmlformats.org/officeDocument/2006/relationships/slide" Target="/ppt/slides/slide11.xml" Id="R7c402c6f47ff4e11" /><Relationship Type="http://schemas.openxmlformats.org/officeDocument/2006/relationships/slide" Target="/ppt/slides/slide12.xml" Id="R7c9ecbf7b4e94526" /><Relationship Type="http://schemas.openxmlformats.org/officeDocument/2006/relationships/slide" Target="/ppt/slides/slide13.xml" Id="R14328ba0dae74ff7" /><Relationship Type="http://schemas.openxmlformats.org/officeDocument/2006/relationships/slide" Target="/ppt/slides/slide14.xml" Id="R5fccad8b8d9f4070" /><Relationship Type="http://schemas.openxmlformats.org/officeDocument/2006/relationships/slide" Target="/ppt/slides/slide15.xml" Id="Re096dbef8fd047b1" /><Relationship Type="http://schemas.openxmlformats.org/officeDocument/2006/relationships/slide" Target="/ppt/slides/slide16.xml" Id="Re95e856c242d4928" /><Relationship Type="http://schemas.openxmlformats.org/officeDocument/2006/relationships/slide" Target="/ppt/slides/slide17.xml" Id="R9840744ffcb940dd" /><Relationship Type="http://schemas.openxmlformats.org/officeDocument/2006/relationships/slide" Target="/ppt/slides/slide18.xml" Id="R67dd2c40832448ef" /><Relationship Type="http://schemas.openxmlformats.org/officeDocument/2006/relationships/slide" Target="/ppt/slides/slide19.xml" Id="R36b1e78ba4ec433e" /><Relationship Type="http://schemas.openxmlformats.org/officeDocument/2006/relationships/slide" Target="/ppt/slides/slide20.xml" Id="Rfc6527e4a7774065" /><Relationship Type="http://schemas.openxmlformats.org/officeDocument/2006/relationships/slide" Target="/ppt/slides/slide21.xml" Id="R13713904d3dc4e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f8b18fce9c49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394ab85fd94418" /><Relationship Type="http://schemas.openxmlformats.org/officeDocument/2006/relationships/notesMaster" Target="/ppt/notesMasters/notesMaster1.xml" Id="Rd81672a1bffb4c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c8bce6f4cc4d62" /><Relationship Type="http://schemas.openxmlformats.org/officeDocument/2006/relationships/notesMaster" Target="/ppt/notesMasters/notesMaster1.xml" Id="R5b639045e59242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897099971e440c" /><Relationship Type="http://schemas.openxmlformats.org/officeDocument/2006/relationships/notesMaster" Target="/ppt/notesMasters/notesMaster1.xml" Id="R39c2dae90daa4c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212d7b04a846cb" /><Relationship Type="http://schemas.openxmlformats.org/officeDocument/2006/relationships/notesMaster" Target="/ppt/notesMasters/notesMaster1.xml" Id="Rebd801ad50eb4b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dcd652a50944f0" /><Relationship Type="http://schemas.openxmlformats.org/officeDocument/2006/relationships/notesMaster" Target="/ppt/notesMasters/notesMaster1.xml" Id="R734f01c8490048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7f57528a064453" /><Relationship Type="http://schemas.openxmlformats.org/officeDocument/2006/relationships/notesMaster" Target="/ppt/notesMasters/notesMaster1.xml" Id="R81f7a63191b74f3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c66b0cc05a4fe3" /><Relationship Type="http://schemas.openxmlformats.org/officeDocument/2006/relationships/notesMaster" Target="/ppt/notesMasters/notesMaster1.xml" Id="R65342de696fd46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e116bb0f4c449b" /><Relationship Type="http://schemas.openxmlformats.org/officeDocument/2006/relationships/notesMaster" Target="/ppt/notesMasters/notesMaster1.xml" Id="R3b73075606a34e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f45f03e02af484d" /><Relationship Type="http://schemas.openxmlformats.org/officeDocument/2006/relationships/notesMaster" Target="/ppt/notesMasters/notesMaster1.xml" Id="Re2044371c01046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b6593b173d426e" /><Relationship Type="http://schemas.openxmlformats.org/officeDocument/2006/relationships/notesMaster" Target="/ppt/notesMasters/notesMaster1.xml" Id="R12b8e9630b024e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a4e6bc2ab6e416f" /><Relationship Type="http://schemas.openxmlformats.org/officeDocument/2006/relationships/notesMaster" Target="/ppt/notesMasters/notesMaster1.xml" Id="R6bb2809eacdb46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9d134c513264e56" /><Relationship Type="http://schemas.openxmlformats.org/officeDocument/2006/relationships/notesMaster" Target="/ppt/notesMasters/notesMaster1.xml" Id="R66b3bce481ee4d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4cf1599e6d84375" /><Relationship Type="http://schemas.openxmlformats.org/officeDocument/2006/relationships/notesMaster" Target="/ppt/notesMasters/notesMaster1.xml" Id="R2dbd38ff6b5a42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eb6ffe227fe4372" /><Relationship Type="http://schemas.openxmlformats.org/officeDocument/2006/relationships/notesMaster" Target="/ppt/notesMasters/notesMaster1.xml" Id="R0be280bd0e1d486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2ffe5ce387d487d" /><Relationship Type="http://schemas.openxmlformats.org/officeDocument/2006/relationships/notesMaster" Target="/ppt/notesMasters/notesMaster1.xml" Id="R68197c10908745f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9248b3046554c14" /><Relationship Type="http://schemas.openxmlformats.org/officeDocument/2006/relationships/notesMaster" Target="/ppt/notesMasters/notesMaster1.xml" Id="Rab7aa02a8e88483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d5003081801489d" /><Relationship Type="http://schemas.openxmlformats.org/officeDocument/2006/relationships/notesMaster" Target="/ppt/notesMasters/notesMaster1.xml" Id="Re533c2f2768b4ac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00066edca1045b3" /><Relationship Type="http://schemas.openxmlformats.org/officeDocument/2006/relationships/notesMaster" Target="/ppt/notesMasters/notesMaster1.xml" Id="Ra7a4307cb363487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d0c616506c94e57" /><Relationship Type="http://schemas.openxmlformats.org/officeDocument/2006/relationships/notesMaster" Target="/ppt/notesMasters/notesMaster1.xml" Id="Rfb7bbde82468406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90659472a5b48ec" /><Relationship Type="http://schemas.openxmlformats.org/officeDocument/2006/relationships/notesMaster" Target="/ppt/notesMasters/notesMaster1.xml" Id="R8253135407b84c0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60f1ecdfcfb4563" /><Relationship Type="http://schemas.openxmlformats.org/officeDocument/2006/relationships/notesMaster" Target="/ppt/notesMasters/notesMaster1.xml" Id="R352cd1a77a2741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09fc8a6c2442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a00079a664417c" /><Relationship Type="http://schemas.openxmlformats.org/officeDocument/2006/relationships/slideLayout" Target="/ppt/slideLayouts/slideLayout1.xml" Id="R145ec1c1672b4e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5ec1c1672b4e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a2df7e8fa4826" /><Relationship Type="http://schemas.openxmlformats.org/officeDocument/2006/relationships/hyperlink" Target="https://cgu-sim-chatbot.cguaacsb.chatgpt.site" TargetMode="External" Id="Rf4e1bc1e0af446fb" /><Relationship Type="http://schemas.openxmlformats.org/officeDocument/2006/relationships/notesSlide" Target="/ppt/notesSlides/notesSlide1.xml" Id="Rcce241cea65549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458a33ff84e85" /><Relationship Type="http://schemas.openxmlformats.org/officeDocument/2006/relationships/hyperlink" Target="https://cgu-sim-chatbot.cguaacsb.chatgpt.site" TargetMode="External" Id="Rc1658aa557434a40" /><Relationship Type="http://schemas.openxmlformats.org/officeDocument/2006/relationships/notesSlide" Target="/ppt/notesSlides/notesSlide2.xml" Id="R8ac09d330bfc4a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f04afdd974e74" /><Relationship Type="http://schemas.openxmlformats.org/officeDocument/2006/relationships/hyperlink" Target="https://cgu-sim-chatbot.cguaacsb.chatgpt.site" TargetMode="External" Id="R8e0bac3f8dd94356" /><Relationship Type="http://schemas.openxmlformats.org/officeDocument/2006/relationships/notesSlide" Target="/ppt/notesSlides/notesSlide3.xml" Id="R175937f45b9649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9e017237b4afd" /><Relationship Type="http://schemas.openxmlformats.org/officeDocument/2006/relationships/hyperlink" Target="https://cgu-sim-chatbot.cguaacsb.chatgpt.site" TargetMode="External" Id="R491991ea6ead47de" /><Relationship Type="http://schemas.openxmlformats.org/officeDocument/2006/relationships/notesSlide" Target="/ppt/notesSlides/notesSlide4.xml" Id="Reb62b1deb9b648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3a51ddaf842c0" /><Relationship Type="http://schemas.openxmlformats.org/officeDocument/2006/relationships/hyperlink" Target="https://cgu-sim-chatbot.cguaacsb.chatgpt.site" TargetMode="External" Id="R8c111e9aee184ef4" /><Relationship Type="http://schemas.openxmlformats.org/officeDocument/2006/relationships/notesSlide" Target="/ppt/notesSlides/notesSlide5.xml" Id="Rda29af550f9347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8a3d4fe78c4206" /><Relationship Type="http://schemas.openxmlformats.org/officeDocument/2006/relationships/hyperlink" Target="https://cgu-sim-chatbot.cguaacsb.chatgpt.site" TargetMode="External" Id="R485482f267a1406b" /><Relationship Type="http://schemas.openxmlformats.org/officeDocument/2006/relationships/notesSlide" Target="/ppt/notesSlides/notesSlide6.xml" Id="Rf0211005c14e44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d22dd7b42b4d0b" /><Relationship Type="http://schemas.openxmlformats.org/officeDocument/2006/relationships/hyperlink" Target="https://cgu-sim-chatbot.cguaacsb.chatgpt.site" TargetMode="External" Id="R7eca077d3d954a5e" /><Relationship Type="http://schemas.openxmlformats.org/officeDocument/2006/relationships/notesSlide" Target="/ppt/notesSlides/notesSlide7.xml" Id="R29f137f0de464f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2d6f923654d2e" /><Relationship Type="http://schemas.openxmlformats.org/officeDocument/2006/relationships/hyperlink" Target="https://cgu-sim-chatbot.cguaacsb.chatgpt.site" TargetMode="External" Id="Rff7061456f8c4334" /><Relationship Type="http://schemas.openxmlformats.org/officeDocument/2006/relationships/notesSlide" Target="/ppt/notesSlides/notesSlide8.xml" Id="R23f4736ce8e946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650f7c86741de" /><Relationship Type="http://schemas.openxmlformats.org/officeDocument/2006/relationships/hyperlink" Target="https://cgu-sim-chatbot.cguaacsb.chatgpt.site" TargetMode="External" Id="R4a27b656ad8341e2" /><Relationship Type="http://schemas.openxmlformats.org/officeDocument/2006/relationships/notesSlide" Target="/ppt/notesSlides/notesSlide9.xml" Id="Re472713ad2b946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22036d3634c61" /><Relationship Type="http://schemas.openxmlformats.org/officeDocument/2006/relationships/hyperlink" Target="https://cgu-sim-chatbot.cguaacsb.chatgpt.site" TargetMode="External" Id="Rc556baadc3214885" /><Relationship Type="http://schemas.openxmlformats.org/officeDocument/2006/relationships/notesSlide" Target="/ppt/notesSlides/notesSlide10.xml" Id="Rb823e24d181847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c5b563bb44fad" /><Relationship Type="http://schemas.openxmlformats.org/officeDocument/2006/relationships/hyperlink" Target="https://cgu-sim-chatbot.cguaacsb.chatgpt.site" TargetMode="External" Id="R7152c434724d4749" /><Relationship Type="http://schemas.openxmlformats.org/officeDocument/2006/relationships/notesSlide" Target="/ppt/notesSlides/notesSlide11.xml" Id="R7e5345a1d3a2452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03af48ac845ac" /><Relationship Type="http://schemas.openxmlformats.org/officeDocument/2006/relationships/hyperlink" Target="https://cgu-sim-chatbot.cguaacsb.chatgpt.site" TargetMode="External" Id="R9080858ddc56440b" /><Relationship Type="http://schemas.openxmlformats.org/officeDocument/2006/relationships/notesSlide" Target="/ppt/notesSlides/notesSlide12.xml" Id="R08f79d5a767d452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77b54dc8f4128" /><Relationship Type="http://schemas.openxmlformats.org/officeDocument/2006/relationships/hyperlink" Target="https://cgu-sim-chatbot.cguaacsb.chatgpt.site" TargetMode="External" Id="Rdabf53e368214ea5" /><Relationship Type="http://schemas.openxmlformats.org/officeDocument/2006/relationships/notesSlide" Target="/ppt/notesSlides/notesSlide13.xml" Id="R06ded0f7f25246b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c4ac36a8f45cf" /><Relationship Type="http://schemas.openxmlformats.org/officeDocument/2006/relationships/hyperlink" Target="https://cgu-sim-chatbot.cguaacsb.chatgpt.site" TargetMode="External" Id="R1eb30b87972d4d39" /><Relationship Type="http://schemas.openxmlformats.org/officeDocument/2006/relationships/notesSlide" Target="/ppt/notesSlides/notesSlide14.xml" Id="R9c8294dfc500422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b0897b45954837" /><Relationship Type="http://schemas.openxmlformats.org/officeDocument/2006/relationships/hyperlink" Target="https://cgu-sim-chatbot.cguaacsb.chatgpt.site" TargetMode="External" Id="Rcbc593d9c7e3478f" /><Relationship Type="http://schemas.openxmlformats.org/officeDocument/2006/relationships/notesSlide" Target="/ppt/notesSlides/notesSlide15.xml" Id="R323f88f5655045a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3acc173a048e1" /><Relationship Type="http://schemas.openxmlformats.org/officeDocument/2006/relationships/hyperlink" Target="https://cgu-sim-chatbot.cguaacsb.chatgpt.site" TargetMode="External" Id="Ra861bee5d75448e7" /><Relationship Type="http://schemas.openxmlformats.org/officeDocument/2006/relationships/notesSlide" Target="/ppt/notesSlides/notesSlide16.xml" Id="Rfc456060fc774ae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82344b861412a" /><Relationship Type="http://schemas.openxmlformats.org/officeDocument/2006/relationships/hyperlink" Target="https://cgu-sim-chatbot.cguaacsb.chatgpt.site" TargetMode="External" Id="Rb0771dbed2504e96" /><Relationship Type="http://schemas.openxmlformats.org/officeDocument/2006/relationships/notesSlide" Target="/ppt/notesSlides/notesSlide17.xml" Id="Raa3e3e20d36d416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d9a062c8d14929" /><Relationship Type="http://schemas.openxmlformats.org/officeDocument/2006/relationships/hyperlink" Target="https://cgu-sim-chatbot.cguaacsb.chatgpt.site" TargetMode="External" Id="R8997d42d1f044f8f" /><Relationship Type="http://schemas.openxmlformats.org/officeDocument/2006/relationships/notesSlide" Target="/ppt/notesSlides/notesSlide18.xml" Id="Ra1f00eafb4384fb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03f3644cf74966" /><Relationship Type="http://schemas.openxmlformats.org/officeDocument/2006/relationships/hyperlink" Target="https://cgu-sim-chatbot.cguaacsb.chatgpt.site" TargetMode="External" Id="Rfe5cc198072747cd" /><Relationship Type="http://schemas.openxmlformats.org/officeDocument/2006/relationships/notesSlide" Target="/ppt/notesSlides/notesSlide19.xml" Id="R57a2f2e0bd1442f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ad463ff1d4591" /><Relationship Type="http://schemas.openxmlformats.org/officeDocument/2006/relationships/hyperlink" Target="https://cgu-sim-chatbot.cguaacsb.chatgpt.site" TargetMode="External" Id="R169795d95d984020" /><Relationship Type="http://schemas.openxmlformats.org/officeDocument/2006/relationships/notesSlide" Target="/ppt/notesSlides/notesSlide20.xml" Id="R56d1bb4e090f407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5e7eab9034bf8" /><Relationship Type="http://schemas.openxmlformats.org/officeDocument/2006/relationships/hyperlink" Target="https://cgu-sim-chatbot.cguaacsb.chatgpt.site" TargetMode="External" Id="Rc12a6fd1a03146d5" /><Relationship Type="http://schemas.openxmlformats.org/officeDocument/2006/relationships/notesSlide" Target="/ppt/notesSlides/notesSlide21.xml" Id="R4a1899e15c3940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65351F-B40C-4EAD-B7C3-89A10BD5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CGU-SIM BRIEFING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84DE90-0F4E-4BAC-A6AD-71C30FA3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000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3010D-2445-4B5A-8030-831C0C5B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672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f4e1bc1e0af446fb"/>
              </a:rPr>
              <a:t>Open chatbot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B8BA35-BAFA-4D4D-9FC2-B2095C6E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85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713"/>
                </a:solidFill>
              </a:defRPr>
            </a:pPr>
            <a:r>
              <a:rPr sz="3750" b="1">
                <a:solidFill>
                  <a:srgbClr val="111713"/>
                </a:solidFill>
              </a:rPr>
              <a:t>CGU-SIM Briefing: OTC Application And Student Pathway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60F99-136E-44A4-AEDB-927DF354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45D57"/>
                </a:solidFill>
              </a:defRPr>
            </a:pPr>
            <a:r>
              <a:rPr sz="1800" b="0">
                <a:solidFill>
                  <a:srgbClr val="545D57"/>
                </a:solidFill>
              </a:rPr>
              <a:t>Decision package for a staged feasibility and dual-approval phase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9DEB5-64CC-48F6-AB27-74F0B724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2324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7F445-6928-4D72-877D-9B143982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0A42BC-6192-44B3-AB81-2F4BDC6A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863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OTC review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A1FD77-C028-4500-9467-298A8058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2019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A5EF99-3BDD-408F-B93D-4AABA7EB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53000"/>
            <a:ext cx="2324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18F8B1-168F-4E7E-B1BC-223FAF53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5300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28943F-93DB-4301-8D8C-5A350C15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863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MOE permission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47B180-A729-40CC-8387-6CBF61F19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48300"/>
            <a:ext cx="2019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2A9D31-5556-4B12-8A29-169890D7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953000"/>
            <a:ext cx="2324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B4F649-81F6-4187-BF46-9F7AC483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953000"/>
            <a:ext cx="666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4C6E41-564C-4DD6-B1AA-D121EEBC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863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Pathway after approvals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7D61EA-E8A9-4F20-A305-6FD6CC2B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48300"/>
            <a:ext cx="2019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708F7E-F037-4382-914A-FBEC929F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0"/>
            <a:ext cx="819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45D57"/>
                </a:solidFill>
              </a:defRPr>
            </a:pPr>
            <a:r>
              <a:rPr sz="975" b="0">
                <a:solidFill>
                  <a:srgbClr val="545D57"/>
                </a:solidFill>
              </a:rPr>
              <a:t>Prepared for CGU academic and administrative leadership</a:t>
            </a:r>
          </a:p>
        </p:txBody>
      </p:sp>
    </p:spTree>
    <p:extLst>
      <p:ext uri="{BB962C8B-B14F-4D97-AF65-F5344CB8AC3E}">
        <p14:creationId xmlns:p14="http://schemas.microsoft.com/office/powerpoint/2010/main" val="15669500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93E77E-BF08-4005-9BA3-744D49B0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636812-67DD-4BFE-8133-31D2791B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Authorize a feasibility sprint, not a public launch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28EBC-C631-4392-8F3C-95B34654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5A41C-B66C-4FE3-BF37-A64F7997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c1658aa557434a40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0C94D4-8499-4DEF-A0C8-CAF1FAE3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69161C-178C-4883-AA7D-6E2A3B5D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86A2D2-AC6D-418F-B8A0-CEC5DA9F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C5A9B6-D3A8-4743-9CEA-77977ED9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E4AD16-0B0E-4833-A071-FD503C96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Approve 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F9168-64FD-4851-B8CA-E4004141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CGU-SIM task force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NDA legal review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MOE admissions route assessment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6/9-module staffing inventory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78C9B6-9E3C-426F-A0D5-6038BC3F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C0080D-EBD5-49D2-B680-B2502B89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5B22A0-8C28-4CC2-B8AA-0045411C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Defer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69FF40-23D2-4A93-B0F3-753FA462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Public recruitment claims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Dual-degree promise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Final scope before Annex review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Student recruitment before dual approval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90F520-3614-48F6-9759-4CA46A7B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3376B7-A8D9-49AF-9DB8-E7774E64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BD430E-5988-45FB-94C2-34C0F681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79409-E2A0-42F8-921A-2DD11CCA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SIM module sequence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MOE independent-admissions path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Delivery split and timetable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Fees, revenue share, cohort threshold</a:t>
            </a:r>
          </a:p>
        </p:txBody>
      </p:sp>
    </p:spTree>
    <p:extLst>
      <p:ext uri="{BB962C8B-B14F-4D97-AF65-F5344CB8AC3E}">
        <p14:creationId xmlns:p14="http://schemas.microsoft.com/office/powerpoint/2010/main" val="13950460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8A7268-4FFC-40EF-A6C1-BC8EA1D9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1DBFC4-08BE-45E4-98A1-3380985B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What is on the table is an OTC foundation plus a regulated admissions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E84CA-DC7B-435B-BBC0-7139BD80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CABC80-3442-4229-B51D-F7D42031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8e0bac3f8dd94356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E8AFD-72EB-4C4A-8033-62F7531B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2668A4-B689-4089-89AA-C70C56E5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D2A08D-176A-4C1A-81C0-D6806FC8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4857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7E4908-5F5B-4845-9F38-B8FF6BF6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666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827B1B-77C3-4121-AA81-4E2556E1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431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Foundation layer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FF941A-E063-4D80-976C-56C5162E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45529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CGU applies as a SIM Overseas Teaching Centre to deliver SIM diploma modules in Taiwan under SIM standards.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Confirmed by SIM documents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5E7EB9-34D7-4C43-8D63-9BF0A59F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809750"/>
            <a:ext cx="4857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04BF72-064E-4FC8-84F9-ED9FF53E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809750"/>
            <a:ext cx="666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B755CF-FA97-4FF6-8468-3B547F6A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9431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Regulatory layer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C5E5A-665D-4DB1-96A8-DDCDB1B5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305050"/>
            <a:ext cx="45529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If CGU recruits a distinct cohort in parallel with 學測/分科 routes and different tuition, independent admissions must clear Taiwan's MOE.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Confirmed by University Act Article 24; details pending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104EA-0E86-48A3-8418-A2635CC4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76575"/>
            <a:ext cx="1095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713"/>
          </a:solidFill>
          <a:ln xmlns:a="http://schemas.openxmlformats.org/drawingml/2006/main" w="9525">
            <a:solidFill>
              <a:srgbClr val="11171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BFA8A-9637-41A2-A359-FB0622107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00350"/>
            <a:ext cx="47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11713"/>
                </a:solidFill>
              </a:defRPr>
            </a:pPr>
            <a:r>
              <a:rPr sz="2700" b="1">
                <a:solidFill>
                  <a:srgbClr val="111713"/>
                </a:solidFill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9827818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04FBFD-254E-4BC9-8F14-CF23EC83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E280BC-2F4C-4AD7-9C98-CC0B17FB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The recruitment case is about student quality and safer overseas transition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918CB0-D525-4B4E-BFF4-882D1F0B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9C56E0-BA1F-4B6A-859D-F6FE4E3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491991ea6ead47de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27F892-2F7E-432B-A10C-604C7CED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0EF4FD-E0BF-4F7F-A99F-AF7B272A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5F16AD-9040-4223-8E7D-41FDD4D7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0839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E5597B-1411-4113-B27A-6BF0667A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ED3073-E420-4C4E-9D6F-59ED14AE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Core judgment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6ABDB7-38A0-43D3-9B75-1F719BE9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1053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CGU does not need the pathway merely to fill seats; the strategic value is attracting stronger students who want an overseas degree route with a Taiwan first stage.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9382FF-4329-4E81-BCFD-3E5CE6A1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Families may prefer a lower-risk first step before Singapore.</a:t>
            </a:r>
          </a:p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SIM observed demand from Taiwan-university freshmen who later transfer abroad and lose first-year learning.</a:t>
            </a:r>
          </a:p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CGU value depends on making SIM-recognized learning recoverable through course mapping or credit exemption.</a:t>
            </a:r>
          </a:p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Retention and CGU degree completion matter, but they are secondary until rules are confirmed.</a:t>
            </a:r>
          </a:p>
        </p:txBody>
      </p:sp>
    </p:spTree>
    <p:extLst>
      <p:ext uri="{BB962C8B-B14F-4D97-AF65-F5344CB8AC3E}">
        <p14:creationId xmlns:p14="http://schemas.microsoft.com/office/powerpoint/2010/main" val="7875360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C59AEF-0984-4E76-946B-48A184AA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327A3F-17D0-4780-A639-A6A2CF5B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Two external approvals now determine whether the pathway can launch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8E4FB-D5A2-4CF2-ADA1-A2D32EC1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CF665-815A-43C4-9FA3-610AC4CD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8c111e9aee184ef4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135853-F335-4366-8633-2E947680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96E1DA-D745-4080-8571-1368F556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04593D-9D64-48F9-8310-D906900E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CBE39-D870-4D99-993B-DCC21BE8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0CBA9-2EB4-417E-AB87-F18CC6CE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CD419-D3C0-40D3-A3C0-C368C547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D4A8E1-C843-4366-927A-2468EE02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Why it matters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0938C2-604F-4CB1-9566-094E4B7C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D376D2-9844-43CB-8E0B-DB771669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Implication for the scheme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103275-FFF3-48D2-9C65-12BD5FA5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9CA4CF-4E56-466A-9842-9A7C6067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SIM OTC approval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24225-7851-400B-8B52-48DE5D28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A758A-1052-4526-B3CC-162B5474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CGU needs SIM approval to deliver DMS modules under SIM quality control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A11067-F65A-48B6-A15A-79BC5723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E4793-F2DC-4BC7-B256-B33C5D84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No OTC approval means no SIM-recognized teaching centre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154EF1-D8D6-4CEC-A0B7-DA950582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45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93E05F-A52B-4D99-9B3F-9BE361B2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607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Taiwan MOE admissions permission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8F23F-A6AC-4AAF-8E32-4B0FEA8B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1845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0A8627-2F53-42F0-AF5F-D53B64D9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2607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Independent admissions rules must be approved before implementation under University Act Artic…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5F9631-B339-4839-915E-5B9DB27E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1845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FAC6E3-C123-4810-BEE9-90379E6B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2607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No MOE permission means no parallel CGU-SIM student recruitment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D91B8E-7584-45C9-B036-94D9175C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688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234985-3B70-4DD6-BDEE-97702770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450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Joint launch decision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540E79-EAFC-43BF-BC6C-EDBFC1B4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5688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5E00DB-11FC-47CB-8C3F-8DC44ADF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6450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The approvals are intertwined because recruitment, tuition, student status, and SIM progressio…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7968E7-8BD8-42E8-8D0E-659EDB07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568825"/>
            <a:ext cx="3797300" cy="138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593353-745B-4AA2-8C15-F34D16B0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645025"/>
            <a:ext cx="3663950" cy="128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Do not open recruitment until both paths are cleared</a:t>
            </a:r>
          </a:p>
        </p:txBody>
      </p:sp>
    </p:spTree>
    <p:extLst>
      <p:ext uri="{BB962C8B-B14F-4D97-AF65-F5344CB8AC3E}">
        <p14:creationId xmlns:p14="http://schemas.microsoft.com/office/powerpoint/2010/main" val="20385282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E05A29-FF22-4292-B89E-D6549116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4D92F-DFF5-46A1-9D5F-49EA1BD5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Five SIM documents define the collaboration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9A8049-ECD1-4573-967B-82AD09CC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7683D-9DF8-43AD-ACFF-5A569755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485482f267a1406b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7469A-DBD9-42B3-97C0-1FE37115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FA3B6-9D00-4421-8027-8B306E9B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5B7361-31B7-453E-960A-79F426BD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B3E3BF-308A-405D-AF21-5794E950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4378C-5EB2-4C93-B4C2-863CC6DB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SIM document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5935FF-E745-4515-B1EC-B78C60DD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65D0BC-25EF-4EF1-B260-E6F39996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Structural role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E6D078-DB26-4784-930F-73C83938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2BE187-4200-419F-BFA6-13D09937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Effect on scheme design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F13703-E4BC-41F1-9B9F-82699FB4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9F2A90-1F6F-4C69-A742-12C797D4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OTC Application Guide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4A37E-B982-4C18-B709-23031363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F3E57B-824E-4A78-9924-9B943B94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Defines the institutional approval path: application, audit, staff review, agreement, accredit…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5D3D0C-18EE-4D1A-831D-1BC178A8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9F1E66-EA69-4C60-9D86-BBC42636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Makes OTC the foundation layer before any pathway launch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F6A69B-2A6B-43EB-8E96-28B8641C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335939-C073-4772-ABE4-20B261F4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Application Form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381B50-DEDC-40AB-924D-68591AD4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FC9CD6-AA1D-4852-82E3-08C0803B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Defines CGU evidence duties: site, delivery, staffing, assessment, support, recruitment, intak…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10F0E9-C258-4F68-9596-F1CB8935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37224B-887F-4882-8CA4-A9AEA537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Turns the idea into a cross-office evidence-pack project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1A2ADA-AB53-40D2-A104-A2B06710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02C301-0F66-4A58-87D0-8FB3FB17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NDA Template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690784-B385-447C-BC74-EE0370A2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4DC66B-07C6-49F7-9384-7C632331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Controls access to Annexes and restricts publicity, information handling, PDPA, law, jurisdict…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25CE44-8FA0-49A8-ABFD-43BD17C3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2AAE62-C2F3-4421-9F7C-B15D1B83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Makes legal review the first gate and constrains recruitment language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AE7EDE-E285-4171-AA8E-86EAFBF6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9F2684-B322-49F5-B143-A7AD885D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Teaching Profile Form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509430-7487-4F33-86BA-6C902B1E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39B74B-8712-477D-BD0C-EC346DA9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Controls who may teach and what qualifications must be documented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DE6229-A943-4877-8132-501631DA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41D0A0-6C61-43E2-A953-457C66A9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Sets the 6/9-module staffing bottleneck and English-medium readiness test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9FEBDE-68BF-46EA-B153-8CA55A19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DAF13F-89F8-442B-9A69-39E53D14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DMS Course Info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59791F-7513-44D8-BF6F-0C629BE2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8A4031-F777-4390-9651-92D90388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Defines the programme content: 15 months, 15 modules, 42 hours each, 630 hours total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247D88A-62CF-4EBE-BB08-493CD20C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D0737D-DE2E-46B2-9A53-6F7D5057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Provides the academic substrate for credit mapping and pathway design</a:t>
            </a:r>
          </a:p>
        </p:txBody>
      </p:sp>
    </p:spTree>
    <p:extLst>
      <p:ext uri="{BB962C8B-B14F-4D97-AF65-F5344CB8AC3E}">
        <p14:creationId xmlns:p14="http://schemas.microsoft.com/office/powerpoint/2010/main" val="3351041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8C3ECC-E765-4616-9A2F-E9FED8A2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1B5189-B067-4AD5-838E-EC330F7A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The documents also define the pedagogical model CGU must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5D366E-02EA-47AE-8B3D-B3F160DC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56A11-F1DF-46D3-A5EE-4F5EC219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7eca077d3d954a5e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3DD4AE-0DDC-4AA0-A910-CF652858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E59B8B-7F61-43FC-A633-B09B64F0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B5DDFE-B10C-4FE6-B473-E13F9900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F53E09-E3A3-491C-B410-CE167388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C66DB3-51C5-4337-B4B2-089E1349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Pedagogical element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2FDA2-C547-41DF-8E70-3D01ADC3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2C244-97DC-4B68-996E-A266B3BE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Document 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6B5DC3-3CFF-4C12-A1E9-937674C0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65B0F7-69BB-43D4-8F55-B9A08796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Future-design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39DA45-B580-4A14-A551-7942FFEE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4CD15A-D127-46A2-B729-3D0F16A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Curriculum spine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EFD761-6E82-4B7F-ACCD-F4C826BA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BFADE1-B1D7-478F-9F01-CF5C9357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DMS Course Info fixes 15 modules and learning aims across communication, quantitative, economi…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64A6D-A535-456B-A613-C3F4C29C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5044E2-416B-41E5-B088-561C8E6B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Map CGU equivalents by learning outcome, not only course title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1D2914-CBBF-41BA-8C94-D4D694D1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3E3946-CF4A-444F-9879-33A40D33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Blended delivery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D61EC1-7673-4D8A-94D4-191DE333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1D41D5-B0E7-46D1-875E-4AAC352D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Application Form Appendix A specifies SIM vs OTC contact-hour responsibilities by module type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895D74-E773-41F6-ADD4-09040D8A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63080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E1E231-43D8-4ACA-920A-1F4BC385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70700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Reconcile the June 9 conversation's 50/50 discussion with the formal appendix and later Annexes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0BEFED-46EF-4467-A630-3EBFB8F0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008719-7E44-43CB-B105-23C71D93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Faculty qualification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90B528-9B5B-463C-8D4A-4D429D5D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598632-66F4-47F7-B209-736C90B5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Teaching Profile Form asks for module assignment, experience, qualifications, English proficie…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9DBAB6-D734-45D7-B458-3F411493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46138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2282CC-64F8-4223-BA89-7229BA58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53758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Build a faculty-readiness matrix before selecting 6 or 9 modules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1DAE45-0F1D-4B03-BACE-D097B0D5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7540EA-5753-4516-A192-CF26A18C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Assessment control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D887CF-29AB-4331-8D5C-2C180500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6B6182-A240-4A44-8B8B-572E2B21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Application Form and June 9 conversation indicate written assessments at CGU, exam papers from…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334E76-3ECD-42D3-BACA-24A48D6B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29196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283D63-886D-46C0-8894-F0D3948A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36816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Clarify exam custody, marking, script return, and grade-posting timing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236F43-8E5F-4293-8087-5C30F259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4052B2-235E-4366-8741-7C295451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Quality assurance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B7F65B-AD77-4D57-9F79-4DFBB7A9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92073A-6C9B-4673-BFEA-1A61336C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OTC Guide requires review, audit, post-cohort accreditation, and annual progress review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5343F7-773B-466C-8609-E09856AE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122545"/>
            <a:ext cx="3797300" cy="830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47D2EC-36AE-44E8-A445-A7ABE8A5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198745"/>
            <a:ext cx="3663950" cy="735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Plan the pathway as an auditable teaching centre, not only an admissions route</a:t>
            </a:r>
          </a:p>
        </p:txBody>
      </p:sp>
    </p:spTree>
    <p:extLst>
      <p:ext uri="{BB962C8B-B14F-4D97-AF65-F5344CB8AC3E}">
        <p14:creationId xmlns:p14="http://schemas.microsoft.com/office/powerpoint/2010/main" val="752578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DD5FD0-5366-4518-8654-46C47CC5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D09F14-81E7-46CD-9947-FBFE9C0B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The proposed student journey has several confirmed steps and several policy gaps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CA100-B2D1-4B5F-B9B9-43226245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685C2-EC90-436E-BD93-4D09D6F0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ff7061456f8c4334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292EBB-6D13-4CAB-B317-DD6C209D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9BBAE9-B762-4513-AD34-881369BF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09C2F4-7B3E-4AB0-ADC4-18EB18CB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1F0132-3474-48BC-B5E8-209146E6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04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F9B56C-F7CB-4F21-A262-4E840C10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14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CGU admission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48231D-0DA8-4DEE-AEE7-1F607A27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Distinct cohort recruited in parallel with regular 學測/分科 routes; MOE permission required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FAB420-AD00-4AC3-8679-085AE44C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81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FC2AB8-3D42-43D5-BB3C-6985D50B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9EA620-3E3F-452C-A777-94E15FCC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66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74D92-A76D-45CE-AB3C-D9A7100C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76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SIM offer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FC26AF-4E7A-4C92-B59B-9AFDBE65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24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SIM issues an additional offer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9B1A12-982D-4306-A0D6-C75A84FB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9EABF1-6316-4D0A-AC61-2CF9AC42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F05FB9-E413-42C9-8C58-1C01063F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4AAAEB-9235-4C0F-939D-0599E3A8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38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CGU delivery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ACCF3D-B46B-496D-A055-F1F08BCD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CGU teaches 6-9 DMS modules with SIM-linked components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F7775E-0EE9-415C-85D2-7748A59F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C1DA3D-A7DB-402D-98A4-94A2652A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B5E628-EA00-4A88-B95C-2CBCA83A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90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7AAFBD-780E-444D-894B-4E4B9A4E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00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SIM Singapore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3CB4A0-185C-46C2-8B8F-DFB83E1A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48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Student may continue as SIM student; CGU status unresolved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A04E5B-D814-4333-A67D-D71B1A2A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7FE1BD-09A3-4B78-99F2-FA0C50C8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4D309A-9A06-4FF4-90EB-837AF884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52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53BF78-47D1-42AE-8024-F38FE2B2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62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Optional CGU return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F860C6-C688-4C9C-93C1-1C60DE4C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10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Return for enough credits/time only if the student wants a CGU degree</a:t>
            </a:r>
          </a:p>
        </p:txBody>
      </p:sp>
    </p:spTree>
    <p:extLst>
      <p:ext uri="{BB962C8B-B14F-4D97-AF65-F5344CB8AC3E}">
        <p14:creationId xmlns:p14="http://schemas.microsoft.com/office/powerpoint/2010/main" val="20183266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35AC8C-E881-4B99-944A-170B53F3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A28722-0AC6-4E06-908F-8F91EFBA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SIM’s OTC process creates a clear sequence of institutional gates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DE9341-91CF-4394-9905-2CCDE96A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54846-2E93-4FC5-94FD-F336FBA9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4a27b656ad8341e2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0169B-02CE-4110-BACD-4A4CAD5D7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A0F56-47D3-44C3-9F1B-B040CE01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9457E-A2F1-4995-ADFD-774AB16D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5F9433-D7CD-4C39-9A47-B60F598A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04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558449-75A3-4276-B706-E07BBEF5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14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Application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F20196-7F41-46B0-9C5F-6E948A05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Completed form plus supporting documents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5BE371-401C-46EA-8BDD-E608FA38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81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9DC337-7AF4-47F0-BF0A-5A702751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FEA34B-D25E-47A9-8528-C403281E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66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F46CA8-6A6D-4638-9AF8-7696FF13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76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SIM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904D37-A410-443E-AB90-EE2FC469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24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Completeness review and clarifications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E1B6FD-F242-47C6-B3A9-6BA4BA33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9B7EAA-924F-460C-9F1A-967CE439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58182B-E042-4842-A1A0-E3D4417E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9F2431-2383-41EF-9522-295751E6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38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Audit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3BA76-8551-4A6D-B667-1359D59C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Onsite visit; applicant bears fees if any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44471-94B4-450D-8A45-E3AE02FB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FC8F27-931F-4951-84ED-6B8F2132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BCFDD7-A2B8-4130-BFEF-C4987E0D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90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8E1B9B-FD55-4D40-BA92-3487E534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00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Staff review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282646-9831-4933-BC08-23522E5A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48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Academic staff profiles reviewed online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A74C8F-81CA-4AB9-AEE5-09CD6B3D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F05702-4B0E-4CF4-838E-AD892399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45A8DE-2827-4A50-BB4C-3CED861C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52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3B6BAC-8CA8-42A4-8193-4FD43E7A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62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Decision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3D58EC-EB29-4930-B504-B09F8A9E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10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SIM final decision and agreement within 180 days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46972-1EE1-488D-802D-27B0E5CB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29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57D8DC-2330-4663-9545-E836906A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5DFE14-8A3C-4EB3-8731-626776AF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5B503A-C76F-4F5B-B133-D7F96794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24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Post-cohort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AF89D6-15A7-4871-8E4F-0AC2542E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372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Accreditation and annual progress review</a:t>
            </a:r>
          </a:p>
        </p:txBody>
      </p:sp>
    </p:spTree>
    <p:extLst>
      <p:ext uri="{BB962C8B-B14F-4D97-AF65-F5344CB8AC3E}">
        <p14:creationId xmlns:p14="http://schemas.microsoft.com/office/powerpoint/2010/main" val="15365965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2B503C-D581-4036-83A5-4D11C4E3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D78E95-7599-45A6-9AB2-8595C267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DMS is a defined 15-month, 15-module, 630-hour programme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E25757-ED20-435B-902E-3276301B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5E141-BAA2-446D-BD05-3FC831D6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c556baadc3214885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6890F-E2C8-435C-946F-DAA6D7E4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30ED49-0E26-4C26-AA22-6D160B2C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B6343-E4BB-4049-9A27-28338D4E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2571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BFA115-EF54-405D-95D0-7C62B695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EAED3F-E5F2-4214-B2DD-BC378340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15 full-time months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C0A596-22F8-43F6-A25D-8DD3F20A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24050"/>
            <a:ext cx="22669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48236B-0FAC-467D-84B4-B29A2F25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571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1DE068-04D3-4B24-9A4E-B04A3827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99A0EA-0CD3-402A-BB39-97E06D8A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15 subjects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05D35-EC57-4512-B41C-CC4EF060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24050"/>
            <a:ext cx="22669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E61091-FDC5-4261-BFFC-52C6C47D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2571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E688F5-EF1B-4711-8058-3074C599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205C47-7D9A-48FF-84FC-ABF44D6B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62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42 contact hours per module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77469B-C5E1-4742-B286-375F06AA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22669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347131-73A7-4A80-9571-B52A021F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428750"/>
            <a:ext cx="2571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3C20F8-3499-429D-9BA7-9407F932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42875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423F"/>
          </a:solidFill>
          <a:ln xmlns:a="http://schemas.openxmlformats.org/drawingml/2006/main" w="9525">
            <a:solidFill>
              <a:srgbClr val="A6423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23C509-8A1E-4D7A-A2D7-50C0E426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562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630 total contact hours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FF0218-AB5B-41FD-BB18-036024DE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924050"/>
            <a:ext cx="22669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3740B6-2287-4D1A-9463-9AD8CC69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953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1. English For Business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2. Business Communications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3. Business Mathematics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4. Microeconomics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5. Macroeconomics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6. Business Law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7. Business Statistics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8. Operations Management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96FA90-C145-4C89-BB40-8C80D12E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2887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9. Managerial Accounting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10. Information Systems for Business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11. Financial Accounting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12. Principles of Marketing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13. Managing Human Resources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14. Managing People and Organisations</a:t>
            </a:r>
          </a:p>
          <a:p xmlns:a="http://schemas.openxmlformats.org/drawingml/2006/main">
            <a:pPr algn="l">
              <a:defRPr sz="1200" b="0">
                <a:solidFill>
                  <a:srgbClr val="111713"/>
                </a:solidFill>
              </a:defRPr>
            </a:pPr>
            <a:r>
              <a:rPr sz="1200" b="0">
                <a:solidFill>
                  <a:srgbClr val="111713"/>
                </a:solidFill>
              </a:rPr>
              <a:t>15. Business Finance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5F5F67-4967-408F-80A1-CF0A29F4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108394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7886BE-22B9-4867-9734-D4B42385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9C366A-0FD6-439A-A17C-6E99B2E6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1972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Control point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48E762-DB5F-478F-8953-0C297C1E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5346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Do not lock the CGU sequence yet: the DMS PDF differs from the xlsx Data-sheet DMS list.</a:t>
            </a:r>
          </a:p>
        </p:txBody>
      </p:sp>
    </p:spTree>
    <p:extLst>
      <p:ext uri="{BB962C8B-B14F-4D97-AF65-F5344CB8AC3E}">
        <p14:creationId xmlns:p14="http://schemas.microsoft.com/office/powerpoint/2010/main" val="17402750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BBD2AC-D62F-4FA3-BC58-7135EFCC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2FF46C-8332-4F85-B270-34573E56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The 6-module and 9-module options differ in staffing, timetable, and admissions risk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C2FAE-742B-4166-8A81-69007BA6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1E2CB-40CE-424E-BF70-F7490CDB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7152c434724d4749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99A46-4AFA-493F-9C9D-6078CEB5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6DBA6F-F9E9-4301-80AD-1EAA3B52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152CC0-572E-4DC5-9454-3D34C3B5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FE197-77D2-49CA-B1E9-7D6F275C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28479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A92D44-3C84-4CB3-A1EF-9B3811AA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2714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6DF009-A39C-4FD0-83E9-4BA42896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1476375"/>
            <a:ext cx="28479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078246-AE85-4523-827B-7AB8E1FD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543050"/>
            <a:ext cx="2714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Value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111B63-B1D7-4A40-943D-7FF6DA1B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28479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55C6A6-DA2A-4706-9324-E2C679E7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543050"/>
            <a:ext cx="2714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Load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668B7C-1024-49FB-932C-DB065CC5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476375"/>
            <a:ext cx="28479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21F7EA-E480-4681-A30B-A7DE0214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1543050"/>
            <a:ext cx="2714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Primary 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9C93A9-99AB-4A77-B924-0605D598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F7B967-D205-4C03-9EBB-8C592192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6-module CGU delivery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CA60C3-DF4E-433E-B11B-CD663C5D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180022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D5922B-28F8-4380-82FE-70173C49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87642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Faster Taiwan first stage; lower faculty load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92F8BC-CEB4-406C-ABE8-F4F1707B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022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A25F0-0754-40CD-A2AA-D4089732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7642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At least 3 qualified teachers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9AF857-3028-4B8A-8322-72DDED3F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80022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D8CAF7-5768-486A-A620-32FCD4BD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187642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MOE rejection plus thin CGU credit recovery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0F0B2A-9C74-4DA6-AA11-F17D4656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4259AC-4455-4E83-A459-0FC23FFC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1465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9-module CGU delivery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15968A-607D-4C48-971C-04282C17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83845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9D1876-532B-4401-A21E-74CDA48E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91465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More local preparation and mapping value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5CEA7F-809C-4DDF-A830-2458C638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3845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409C39-C979-42C9-82C4-ED4A0C96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1465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At least 5 qualified teachers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30C09E-C387-44FB-8C12-7F094A47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83845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AC6C1A-FEA6-43BB-A60D-4555F744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1465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Higher staffing, scheduling, and admissions-approval complexity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5E847F-E007-46FA-A1C3-9BBBE05B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85F167-A6F8-42E7-8AB4-05386249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5287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OTC-only pilot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5CDE6B-4103-4488-B258-F9E91547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87667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C804BB-265A-40CA-8900-83FA39A2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95287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Tests operations before pathway claims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474B8F-473E-4B5E-A846-B5C9BF91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7667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36C3178-B605-469B-93A0-C97E3787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5287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Can start with scoped DMS delivery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D96C3A-4FD3-4399-A9EB-5C520FB2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876675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08C729-04F1-4961-96AC-602C44A8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952875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Less compelling recruitment story; MOE still matters if recruiting a distinct cohort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F805A60-8EB9-43C6-9BF5-6DF55F29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1490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EE2080-DC1B-42C0-B565-F24817FC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99110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Optional CGU return path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2AA53C-37C3-4EDC-B316-E8928BCA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91490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92D559-0F99-459A-A84C-97A10CB2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99110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Potential CGU degree completion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09BA20-2B5D-40DF-901F-C6BDE4F3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1490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E5C2AB5-90E8-4C5E-AB80-D1E09D5C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99110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Depends on return curriculum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D19ECA-22AE-4442-8564-25CA0BFD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914900"/>
            <a:ext cx="28479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791D933-4386-422C-9E7A-C6C3B21A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991100"/>
            <a:ext cx="27146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Cannot be marketed until rules are confirmed</a:t>
            </a:r>
          </a:p>
        </p:txBody>
      </p:sp>
    </p:spTree>
    <p:extLst>
      <p:ext uri="{BB962C8B-B14F-4D97-AF65-F5344CB8AC3E}">
        <p14:creationId xmlns:p14="http://schemas.microsoft.com/office/powerpoint/2010/main" val="14723662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5B2A1F-6C72-448A-B3E7-147E9032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21A06-81CC-4EB4-BB1D-C96FB566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Credit, student status, and CGU-degree rules are the major internal constraints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73AE0-D00D-489B-9629-B629583D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A75A1-B043-426A-8010-158831FF8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9080858ddc56440b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43E25-1440-4718-8D80-4E7BF044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F50FF-1123-4349-9222-A3CCB8F5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7E90C2-679C-430B-A99A-CF279591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D00D12-C55B-4716-A63B-394F3FA8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ABF93-FA5B-40E5-B67A-F64012A8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Credit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9E866E-5817-4075-A841-6F010176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At least half of required CGU credits/time must be completed at CGU/Taiwan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Confirm whether the rule is measured by credits, elapsed time, residence, or a combination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87113E-EEF2-49F3-8366-30217DC4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7CCCD6-EBD4-423C-9FB1-B9F947DE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4B4F32-DDB0-49F6-B524-E5A7BAE8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Status rule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E07D2B-616B-4FA0-BB38-94D545A2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When students go to SIM, active CGU student status is unresolved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Likely options include leave of absence or withdrawal unless returning for CGU degree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542F5-6D2E-4798-A69B-9EF2FD25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A3E3B9-1760-4E03-981B-B7DC68A4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3E887B-7E4F-4084-86F5-9EC3F383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Recovery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3F2783-2281-48BE-BB9A-67D5DA23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SIM modules should not become wasted learning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Use required-course objectives or 抵修/course-equivalence mapping</a:t>
            </a:r>
          </a:p>
        </p:txBody>
      </p:sp>
    </p:spTree>
    <p:extLst>
      <p:ext uri="{BB962C8B-B14F-4D97-AF65-F5344CB8AC3E}">
        <p14:creationId xmlns:p14="http://schemas.microsoft.com/office/powerpoint/2010/main" val="16664165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391D37-F76F-42D5-98A6-30A02B78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84506-DBB6-4E6B-912D-24BFD5FB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The Application Form turns the idea into an evidence-pack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AFD44-C9E0-492A-BE3B-2E06AF06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EEA3E1-9043-41CB-A373-D69A7486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dabf53e368214ea5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96A989-CF18-49A7-884C-73234BF7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AFEA49-B5ED-46E9-9D83-1D4E7611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BEA44B-4CA7-49E2-8715-E0000B37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F1D213-453E-4D5E-9D2C-C658824D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3346FD-7078-4F42-B85C-7960C339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Application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1AE58-92EB-4DD4-8058-C2055C55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A229D4-E584-451F-809E-FB733D61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 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664291-275B-449B-900B-E9451EB2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AC8B09-A22C-4CA9-9BE5-11B7CFA7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Likely owner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458AC-A141-4A36-85A0-E4A84398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7D05F0-8A9B-4C9E-BFC3-9EC65B2F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OTC identity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CAD29A-CFD8-421F-AEF5-1DBBEF8B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CD59BA-13B6-4D80-A99F-E89F6BD9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Legal name, registration, teaching site, signatory authority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84E366-78F8-43D4-B919-9687FB9C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7D0E14-2B4E-4FF4-80DB-970E4263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International affairs / legal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3DB2FF-226B-42CA-83B7-C5DB06F6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7DE8D8-4D9E-4244-9770-6D95F135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Current programmes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168015-E35B-40CB-8691-AAEA495B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7748CC-386D-4B84-A689-D7BFDBF5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Local/international programmes, enrolment, pathways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D34130-D90C-4090-954E-E3B573CB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E736E4-53CC-4F74-8456-014393C0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College / departments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2F27F0-6EA3-4D5A-80E4-0AFDBE9C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003161-500F-4B39-85D9-0F07E0E7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Delivery plan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3F7A60-D614-4193-BD19-987A3A69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523E7F-DF5F-43F1-AB9F-81405D41F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Rationale, target group, timetable, assessment, disruption plan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97E48E-3494-48E2-B7AA-7B7A0C97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58A942-7AC0-4675-ABD5-4C80DC6E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Academic and operations leads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F95BE6-DAB9-43A7-8F52-97B591B2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357759-9DF1-490D-943C-B14180E8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Staffing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5A1383-038B-4D42-B11F-AE16E1BB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209A81-2080-4327-9917-10D3F12C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Faculty assignments, CVs, teaching profiles, certificates, transcripts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8D2022-39D5-4B8C-AB70-ADBD9020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674937-3E93-4361-B769-99706C1D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Staffing lead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7E73AA-C241-45B3-878F-2832B71A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751A5A-00CC-4006-AE0B-0433265C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Facilities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547A4F-01D5-43DF-888E-968F7B3E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0E6A06-BF7E-406B-8CC3-BF0668E0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Classrooms, learning resources, student support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EBABC7-1A09-4EB1-BB0B-48C0B22A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F6C8DE9-DA9F-4913-9363-41442514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Operations lead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8DCFF9-B9A3-4519-B4A2-FDA6E72B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7BE23CD-15EE-4C08-AD15-52D5C66A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Recruitment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CF1F369-E516-4129-88A8-4BC0D309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B7FD7E5-746E-400C-A69E-99777790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Admissions route, advising, intake projections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E0E7F61-9CF4-4AF0-9D1F-CC00F2FF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E7BDD1-7627-4416-BC2A-CB2B2038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Recruitment lead</a:t>
            </a:r>
          </a:p>
        </p:txBody>
      </p:sp>
    </p:spTree>
    <p:extLst>
      <p:ext uri="{BB962C8B-B14F-4D97-AF65-F5344CB8AC3E}">
        <p14:creationId xmlns:p14="http://schemas.microsoft.com/office/powerpoint/2010/main" val="6176130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C2007-0F9C-40FE-B9A5-C29D9C39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0F2A45-4ADF-46D4-94D6-1C456EB2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Staffing is a likely bottleneck because SIM limits each teacher to two modules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D97EA9-60A6-4280-A830-F4C098B9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8D4E5-D7C0-4AE6-B7C8-C1B40138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1eb30b87972d4d39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951D72-9974-4A8C-A626-3B2CE681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61C8C-AEE3-4A2C-88E6-7EE3EE22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D56767-62C7-4DE9-9012-510CBC60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0839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A8415-27FD-4E09-AF61-544D1EDE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FE5013-F3D3-4CB0-A44F-12749656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Core judgment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C45C2C-E15A-4951-8249-BF5FAC93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1053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The 6-module option needs at least 3 qualified English-capable faculty; the 9-module option needs at least 5, assuming no teacher exceeds two modules.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5F203-E2F4-41E8-862A-C0976091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Each teacher profile requires personal details, citizenship, module assignment, experience, qualifications, English proficiency, current institution, certificates, and transcripts.</a:t>
            </a:r>
          </a:p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Information Systems for Business and Business Statistics align with Information Management strengths.</a:t>
            </a:r>
          </a:p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Accounting, finance, marketing, HR, operations, law, and economics require broader Management College mapping.</a:t>
            </a:r>
          </a:p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Incomplete submissions may prevent SIM review from proceeding.</a:t>
            </a:r>
          </a:p>
        </p:txBody>
      </p:sp>
    </p:spTree>
    <p:extLst>
      <p:ext uri="{BB962C8B-B14F-4D97-AF65-F5344CB8AC3E}">
        <p14:creationId xmlns:p14="http://schemas.microsoft.com/office/powerpoint/2010/main" val="87170685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5FF054-7FB9-459B-B5EB-81F26F37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ED5242-D192-40EF-80C2-016DDBFBE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The task force should assign accountable leads, not just discussion owners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4BA7E-0EFC-4499-9D26-EEFB5E29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CEE97-B2D2-4BF7-995C-FB156812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cbc593d9c7e3478f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91CC5-CD7A-453B-981A-10548BD7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6DEA35-C93C-4B17-B8C9-65A60499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5AB62-879C-4082-85A3-7D6810F6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478B4B-DF11-4960-A166-1A5A29C1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AB80EE-FA9B-4912-B7F4-FE9C6509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Workstream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68EE83-FD60-4A5F-AB98-B31917E1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83511-D2DC-4C8D-BA8C-82F71C86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Lead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C1F7A6-0FEA-4C98-9504-81E0C253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57F07D-B534-4F83-ABCD-F284CA83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First deliverable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C2EC04-D53A-4604-BE1A-D7B987D1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6D0FB4-7249-4728-8DA0-61E89393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Executive sponsor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8C6DF3-9CC4-4684-AFE5-EF6996C2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F45717-8317-4D86-876C-C4DDC6EF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Project sponsor or designee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01CFD5-1EB7-4ED4-9EAA-48A53890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916734-BD3B-4D44-9409-C4E49006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Mandate and decision log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1DD53C-74C8-478C-A68F-FEAABF62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1933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23121B-0419-41EC-A5E2-C0DFEF87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9553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Academic mapping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798370-4C69-47D2-845E-0B05543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31933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D14119-D8CB-4AB5-B9EB-C1915EAE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39553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College / department lead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B086B9-55AC-46A7-9196-74950FC3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31933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276AAE-ECBA-4697-A252-A3353A75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39553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DMS mapping and 6/9 recommendation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7F07D3-F7FC-46E4-9EF1-E5C036A0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ABC4C6-7691-4C06-BB86-D81751A2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1465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Academic Affairs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70E305-3580-474F-BBAE-649A9E44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83845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D001E4-AD39-4AAB-BD13-1242DA24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91465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教務處 lead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970535-980D-4BE0-B813-F8C14AF2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83845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DEDDE4-DD48-4310-BDA3-ABD70F3D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91465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Credit, 抵修, status, degree rule memo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3F235E-E634-476E-AB65-EA7FF29A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5756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457D1E-60B7-439E-8C5C-E98CC8FD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3376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Legal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1CCE33-B171-4B6A-A993-1EBBA8A4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35756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638D7C-641C-4DA7-A4EE-42DBCBA0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43376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法務 lead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46D281-D23C-462D-B55B-3B0EB3C1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35756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B535A9-0C6C-4BB1-BB4E-36371D96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43376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NDA and no-publicity review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A2A2A9-6DC7-45B1-9DB4-4D63A202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F83172-B587-4B85-A4E1-05CEAB95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5287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SIM liaison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9A217E-1391-4415-B096-DD716AAB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87667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BE7A35-98FE-47D3-A2E9-8E5A700C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5287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International affairs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3D1179-76B2-4A00-A8EE-43315C95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87667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247F91-A5F8-4222-952E-6E4620AB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95287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Clarification log and document exchange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C12ED4-1BD5-403B-A9CD-78150A30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9578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D650EB-C948-4583-B655-724DA3A8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7198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Operations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7DCF21-4BE9-4B2E-A9C1-D2A41F4E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39578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9BCE382-827A-44B4-800F-C0917165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47198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Operations lead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83FDB77-B4BE-4859-8676-AF34E840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39578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DDA1D37-6C01-4570-86FF-5DA01910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47198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Timetable, facilities, exam logistics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9DAFBB-0753-4943-9F8F-80568D96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1490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8F49DAC-EBE5-48B9-A8AC-D942335A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99110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Recruitment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93220E4-E8A1-4C60-8057-830495F6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91490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AA9FDEE-2320-48A6-BD91-20BEAE45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99110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Recruitment/advising lead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EEA53A2-5477-488D-8911-0E34FD75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91490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64465F2-985E-4290-9CD4-717EA34E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99110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Compliant advising model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7B65FF5-2681-43D5-BF9A-9EDAC36B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3401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15A6F27-F5B7-40E1-8463-551C57C7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1021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Finance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5FC1C69-775D-4BEE-B6D8-68BB352D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43401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678F85-4960-4744-9574-297F03C2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51021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Business-case lead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3B979EB-0E35-465C-A93E-B26DB872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43401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1E036DD-13BA-48F5-A684-76F419DE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51021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Fee and cost model after Annexes</a:t>
            </a:r>
          </a:p>
        </p:txBody>
      </p:sp>
    </p:spTree>
    <p:extLst>
      <p:ext uri="{BB962C8B-B14F-4D97-AF65-F5344CB8AC3E}">
        <p14:creationId xmlns:p14="http://schemas.microsoft.com/office/powerpoint/2010/main" val="5518541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E8620A-CE91-4620-B048-BB5F9537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B4742-FF49-4177-880C-BC8C1B22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A realistic roadmap should follow phases and approval gates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991E9-E349-47C4-A157-C5B45C0A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237C4-91E5-493A-987C-62FC0AF5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a861bee5d75448e7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7EDAF3-77A3-488E-8CCB-532EBAF7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9ED9AD-AD8C-4B83-8177-61F1E041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78BF91-8676-4848-8A48-23F85E5B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EF18F-5730-4013-9E56-75E93F89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04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429E0C-A833-4307-B681-BD17A47E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14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Internal alignment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7F7652-1368-4709-A48B-7DAE78C7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Task force, legal review, Academic Affairs ruling request, admissions/MOE route assessment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AFCE4B-5E45-4025-B34C-009F563D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81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8931AF-7DFC-4173-9EBE-2FEC8628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2504D8-8062-4009-9488-B31AB2DB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66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36606D-6747-4396-A4DB-2D0081E1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76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Clarification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AC660A-857B-4AAD-8156-ECC4017C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24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NDA if approved, Annex review, SIM questions, independent-admissions concept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8DDBFA-758D-4930-8510-1E7CD56D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18E02A-9BFD-44D6-8008-78173D55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F91268-6A6F-4AB9-859E-720B5DBF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85E8A3-A0AF-4CC0-898F-28380EEC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38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Evidence build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0001D1-2D5F-42CF-BED6-20832E6E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OTC pack, staffing profiles, academic mapping, admissions rationale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1DFD2C-AC67-48B7-A493-8BCE25A1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C4CF8B-8F37-466E-B174-238F4C56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08041F-D204-42B7-89AF-232BC584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90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F4F032-FA0E-4416-9DF4-4A9EA9ED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00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External review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F95C8E-C860-430F-BD5C-AF750564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48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SIM review and audit plus MOE admissions submission and clarification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0D23ED-6B82-4B3B-BF1E-3F1FC3D9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BB4665-48B4-4CDD-B2A7-A465F988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FF2116-C692-45C3-9F21-245AE7CF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52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C169D5-13F6-4FA0-A914-D17921AA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62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Dual approval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C55A57-E49C-4989-A58D-01F7D29D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10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Formal agreement and approved recruitment/advising terms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2AB482-1E2E-41F0-94FD-473B9830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292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65EB5C-B8DA-440F-97A9-6B1C33D2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D4E8BD-C8D4-4CCB-ACA6-99504A21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B0C038-DB65-47D6-9912-DB2845D9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24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713"/>
                </a:solidFill>
              </a:defRPr>
            </a:pPr>
            <a:r>
              <a:rPr sz="1650" b="1">
                <a:solidFill>
                  <a:srgbClr val="111713"/>
                </a:solidFill>
              </a:rPr>
              <a:t>Launch readiness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CB699A-2943-4409-9000-A6213731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3721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5D57"/>
                </a:solidFill>
              </a:defRPr>
            </a:pPr>
            <a:r>
              <a:rPr sz="1275" b="0">
                <a:solidFill>
                  <a:srgbClr val="545D57"/>
                </a:solidFill>
              </a:rPr>
              <a:t>Operations, first cohort, accreditation, annual review</a:t>
            </a:r>
          </a:p>
        </p:txBody>
      </p:sp>
    </p:spTree>
    <p:extLst>
      <p:ext uri="{BB962C8B-B14F-4D97-AF65-F5344CB8AC3E}">
        <p14:creationId xmlns:p14="http://schemas.microsoft.com/office/powerpoint/2010/main" val="19112832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16A255-40B3-4F4D-9637-4FBEBCF3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6CF171-046D-4799-A70A-728C0B42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The risk register argues for a staged feasibility phase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2D681C-28C3-45CE-A431-1A975FF4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B1DE3D-0FD5-44D5-BC85-579D8924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b0771dbed2504e96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945-A45A-4A67-B519-7B9C5049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4D149-C7DB-446C-A9EE-13C90D04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A83A8-0DFF-4689-8CF9-8BA9732E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C68B6A-7AEB-4B1C-A0F1-A8FD13CE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88C59F-139C-4FCD-8FA2-47F6949E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14FFF4-13C0-4C7E-B186-17CA7D8A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6E2C2-8ED6-446D-B3E8-54F7AD8B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60DE03-0EEC-4BB3-A69E-2F9209DC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13DC0-F761-45C3-B7B4-24990C3E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Mitigation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61D3C6-AAD0-4FAD-802C-254CD560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6E075B-4E01-49EE-8B62-1517CC22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High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B18984-6597-415F-996E-7F6DBC69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4C0200-3270-484B-86AD-8696420A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MOE may reject independent admissions for the CGU-SIM cohort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8B7A41-08D2-4813-A6D9-36EC2E3B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77FC41-17FB-4A73-9C60-D1B75BC9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Treat MOE permission as a go/no-go gate equal to SIM approval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4CBA4D-C394-4EFE-88FA-45848F7B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6856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CCB937-7BE3-4171-8F08-702ABFB8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4476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High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66B52E-AFEC-4429-AB2B-2B002761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46856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A5682B-1F34-4A8E-B441-97945C2C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54476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CGU/Taiwan credit or residence rule blocks an easy dual-degree story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BBC36F-F1F3-4F51-91DD-1C29DCF9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46856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1969B6-D233-424D-9FE6-75E76D55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54476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Position CGU degree as optional pending 教務處 ruling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8E5A18-A119-46C7-9927-744793A65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36900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689C5A-EF2B-49B3-8D39-A36F9B8C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13100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High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B12593-B3C8-45D7-B6BC-594A7CF9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136900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F399BE-B3EC-43A6-9D8D-FEC3A0B8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213100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Student status during Singapore phase is unresolved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954F1C-8CB6-482D-BB41-6E0B3FB4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136900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180421-1D58-4E76-AC97-E9962380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213100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Define leave/withdrawal/return decision tree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98B294-4B0C-4DBB-9DAB-C83B6974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05238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753AC4-FFBF-42CA-B8C2-2853C8C7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81438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High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FCE8EA-27C8-4761-B5A1-B36BAB42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805238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E62BC6-2DA5-4A0B-B13C-CD1A71F4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881438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Faculty bottleneck for 6-9 modules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444E13-6996-420D-82B5-07042D2E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805238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DC43BA-E883-4455-8C6E-90B0C06C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881438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Inventory qualified English-medium faculty before scope decision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C9CB00-0DFB-4A24-865F-DEC2A6C2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357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5002A9-C653-4C1E-9C80-A926682E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4977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High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CD23FC-52E6-4213-A187-08AC0141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47357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2418AC-43C3-4F8C-8843-780809D2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54977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NDA no-publicity clause limits recruitment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E7D43A-5EA8-4692-A94D-387711C0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473575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D5BA0AE-0BE5-4371-AA4F-000E7D72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549775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No public claim without legal/SIM permission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5E6758-6314-49FF-9EE3-B70E903C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191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729AA6-C3B4-4AB1-9A20-6F2DE0CD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1811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Medium-high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F36053-9939-42F9-9E03-F25ABD95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14191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98767EC-256B-4F56-A9B6-13E025D3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21811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SIM synchronous schedule may not align with CGU semesters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20F49E1-D96F-4180-A577-9CA6EFA4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141913"/>
            <a:ext cx="3797300" cy="6683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139AFB-6864-4A43-B998-A1DE8ADC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218113"/>
            <a:ext cx="3663950" cy="573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Build timetable from SIM cycles</a:t>
            </a:r>
          </a:p>
        </p:txBody>
      </p:sp>
    </p:spTree>
    <p:extLst>
      <p:ext uri="{BB962C8B-B14F-4D97-AF65-F5344CB8AC3E}">
        <p14:creationId xmlns:p14="http://schemas.microsoft.com/office/powerpoint/2010/main" val="20589746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A8D993-18B2-498C-AC26-42004191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0AD50-27F9-4D45-8A06-1EFD02E4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Open questions must be owned by CGU and SIM workstreams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9EAABD-BCCC-4064-B715-5B1D3259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EC58D-A308-44B2-8B36-72168C2C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8997d42d1f044f8f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73B5D2-4394-4520-B893-F205A323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4D2E6-89B2-4B6A-9F67-E71FFC51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2D1E13-AE15-42B8-80CC-21B14B0A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06311-B882-4A04-B364-0B14D035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3D1472-39CC-4D79-BFDC-76C8726C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Admissions / MOE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433B2-47BC-4693-BA69-A18571EB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Independent-admissions route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Tuition and quota treatment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Student-status disclosure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Failure path if permission is denied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2E9F27-4724-4C60-886D-1328333E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E9EC52-357A-4677-88D3-6B8346DF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6B32"/>
          </a:solidFill>
          <a:ln xmlns:a="http://schemas.openxmlformats.org/drawingml/2006/main" w="9525">
            <a:solidFill>
              <a:srgbClr val="B26B3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52183F-2CDA-4B4D-B2F2-0FCC718C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Academic Affairs / Legal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100E44-53B3-4FF1-9EBA-17B8B3A7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Credit/time/residence rule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Student status during SIM phase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Singapore law and jurisdiction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Publicity restrictions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A4AC83-9BEF-4120-AC03-BE74CD26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3429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590785-5037-40D3-B605-1B0D26B1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581150"/>
            <a:ext cx="6667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8F"/>
          </a:solidFill>
          <a:ln xmlns:a="http://schemas.openxmlformats.org/drawingml/2006/main" w="9525">
            <a:solidFill>
              <a:srgbClr val="315F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7AA5E3-B8FA-43C6-9204-D4278A26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14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SIM / Jessy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20D94F-88E0-4C06-B907-B8F7E64F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1242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DMS sequence and 6/9 modules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Exact delivery split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Online schedule flexibility</a:t>
            </a:r>
          </a:p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Exam marking, fees, cohort threshold</a:t>
            </a:r>
          </a:p>
        </p:txBody>
      </p:sp>
    </p:spTree>
    <p:extLst>
      <p:ext uri="{BB962C8B-B14F-4D97-AF65-F5344CB8AC3E}">
        <p14:creationId xmlns:p14="http://schemas.microsoft.com/office/powerpoint/2010/main" val="8400196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2E7F61-3CCF-4AE8-9970-25CB41DF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D2777-F132-401C-8AC4-BFC4B88F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The next decision should open an evidence-gathering mandate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76D4B-D35F-4D36-A8AF-4F786B5C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67E459-571C-41A0-8953-EFA3A47F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fe5cc198072747cd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0EA640-C72D-4A91-959A-073F41E9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886E79-699D-4E49-823F-18E156BC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74A4E-30AD-47C6-A34F-16EF4A2C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0839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6A177-D2BC-4EFA-8BC7-76387A42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D36933-278C-4D3E-8BDF-4C304795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713"/>
                </a:solidFill>
              </a:defRPr>
            </a:pPr>
            <a:r>
              <a:rPr sz="1500" b="1">
                <a:solidFill>
                  <a:srgbClr val="111713"/>
                </a:solidFill>
              </a:rPr>
              <a:t>Core judgment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0A319-A7FC-4871-960F-D0EB48D6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1053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45D57"/>
                </a:solidFill>
              </a:defRPr>
            </a:pPr>
            <a:r>
              <a:rPr sz="1200" b="0">
                <a:solidFill>
                  <a:srgbClr val="545D57"/>
                </a:solidFill>
              </a:rPr>
              <a:t>Recommended decision: proceed with a structured feasibility and application phase, not a public collaboration launch.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FDCAF-8127-4C3B-B489-79C0D215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Start with DMS and compare the 6-module and 9-module models.</a:t>
            </a:r>
          </a:p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Treat the CGU-degree return path as second-stage design.</a:t>
            </a:r>
          </a:p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Sign the NDA only after legal review and signatory approval.</a:t>
            </a:r>
          </a:p>
          <a:p xmlns:a="http://schemas.openxmlformats.org/drawingml/2006/main">
            <a:pPr algn="l">
              <a:defRPr sz="1425" b="0">
                <a:solidFill>
                  <a:srgbClr val="111713"/>
                </a:solidFill>
              </a:defRPr>
            </a:pPr>
            <a:r>
              <a:rPr sz="1425" b="0">
                <a:solidFill>
                  <a:srgbClr val="111713"/>
                </a:solidFill>
              </a:rPr>
              <a:t>• Run SIM review and MOE admissions-permission work as intertwined applications.</a:t>
            </a:r>
          </a:p>
        </p:txBody>
      </p:sp>
    </p:spTree>
    <p:extLst>
      <p:ext uri="{BB962C8B-B14F-4D97-AF65-F5344CB8AC3E}">
        <p14:creationId xmlns:p14="http://schemas.microsoft.com/office/powerpoint/2010/main" val="70073451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5A8208-786D-4493-872B-DC604AA8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6D36F-399B-482D-A30F-22CC9ECF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Immediate next actions should be owned without forcing fixed week bounds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77E6E1-2513-4E1B-951C-BDFB8C74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5551A-AB9D-416C-89E6-89F44A49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169795d95d984020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DFC391-B9F7-4279-8657-C263474F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950CB0-4605-4588-B59C-D113A80A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E806D0-981F-4E0E-A1AA-47CF86DA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CAB86-56A6-42D6-B0D9-5F996CAE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DAEFDD-5041-4762-ACEF-A2350F38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3ABA8-2EDD-434A-89F5-E9C91002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4443A5-0A08-4728-860A-54B84A6B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6AA68-D63D-4D88-831C-D7BC9F50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BBDBBA-78D9-44D2-A1FD-9325585F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Phase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D63383-1190-4A27-924A-DC09B174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6C58DE-E29A-4C72-8610-9E864708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Name project sponsor and leads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31422D-5639-4034-A6B3-797D60CA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CCCC21-6697-44F6-AFE3-42976348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Project sponsor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6D9940-BB79-4FF5-BEF7-6D0E9A2E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62E450-3DB6-4932-A152-96D7DC24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Initiation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4171B1-6F9C-4A61-AE86-79753F25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AB9AF6-B1C4-4B80-A274-651DA795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Confirm MOE independent-admissions route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108297-74E5-453E-959A-0DD39786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3BC960-EEF4-4BCD-B8C4-BE4AF8A2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Admissions / Academic Affairs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166806-453D-4E9C-8B49-ADE77BDC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4923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45A7CF-51A2-4F36-BF24-3A5204AA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5685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Policy framing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AA95F4-C034-4855-AE70-D92DE2CE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F68D58-B1D7-4E37-B11A-63D9D247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Open NDA legal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7C136E-F82D-4D5B-832C-6896CE1D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43CB0F-9A1F-4289-A7F8-21847BA4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Legal / International Affairs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A2D515-7571-4A0A-9710-B946DD88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1845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243B82-93A8-45EC-8B7A-86907F10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2607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Legal gate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D0BA0D-815C-4671-B114-4B0D1C7D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096B62-4EE4-43DD-921A-CA021FB7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Request Academic Affairs ruling memo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04AD99-1B34-48E2-935E-544D9E9C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3421E5-E5A8-4664-AF03-4C4E5A50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Academic Affairs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6BB28E-EB43-42F4-9286-12AE6C77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8766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08D227-CE77-4BD5-8E8F-92E7D20A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9528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Academic rules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EBDDADF-6C9B-4B9F-B1CF-A3656933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B058CF-9810-46CD-92F3-7413A1F8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Build faculty readiness matrix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E6B464-8FC0-4798-A92E-72E8D6C1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EE90DF-E28E-4F42-9D20-E4140A3E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Staffing lead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0A5A3E-2D12-4760-BC71-DCB9E357B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56882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40901F-D1F1-48C5-82C0-346508D8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64502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Evidence build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664676F-D299-48B8-8461-F51A1EE6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686B86-BA68-4D00-88DE-E5A84E13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713"/>
                </a:solidFill>
              </a:defRPr>
            </a:pPr>
            <a:r>
              <a:rPr sz="1050" b="1">
                <a:solidFill>
                  <a:srgbClr val="111713"/>
                </a:solidFill>
              </a:rPr>
              <a:t>Draft SIM clarification list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CDBC18D-0C15-41C9-BB79-F36DB98A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0CA219-F3C5-4992-AD49-6A5BFBF2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SIM liaison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9BCB8D-43FC-483B-B11A-9F9876E0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260975"/>
            <a:ext cx="3797300" cy="69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A0C353F-57E7-4472-B6DC-2B015474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337175"/>
            <a:ext cx="366395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5D57"/>
                </a:solidFill>
              </a:defRPr>
            </a:pPr>
            <a:r>
              <a:rPr sz="1050" b="0">
                <a:solidFill>
                  <a:srgbClr val="545D57"/>
                </a:solidFill>
              </a:rPr>
              <a:t>Clarification</a:t>
            </a:r>
          </a:p>
        </p:txBody>
      </p:sp>
    </p:spTree>
    <p:extLst>
      <p:ext uri="{BB962C8B-B14F-4D97-AF65-F5344CB8AC3E}">
        <p14:creationId xmlns:p14="http://schemas.microsoft.com/office/powerpoint/2010/main" val="5243051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BA3A85-B6C9-4834-BA1C-B5E47896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CGU-SIM collaboration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64950E-7D41-446C-9D7E-069B6C6B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048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713"/>
                </a:solidFill>
              </a:defRPr>
            </a:pPr>
            <a:r>
              <a:rPr sz="2625" b="1">
                <a:solidFill>
                  <a:srgbClr val="111713"/>
                </a:solidFill>
              </a:rPr>
              <a:t>Appendix: source notes for major claims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30842-CC61-4327-B49C-D2523F92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9550"/>
            <a:ext cx="129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2D6F7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98711-03F8-43DE-A19F-4517ED69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62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D6F73"/>
                </a:solidFill>
              </a:defRPr>
            </a:pPr>
            <a:r>
              <a:rPr sz="900" b="1">
                <a:solidFill>
                  <a:srgbClr val="2D6F73"/>
                </a:solidFill>
                <a:hlinkClick xmlns:r="http://schemas.openxmlformats.org/officeDocument/2006/relationships" r:id="Rc12a6fd1a03146d5"/>
              </a:rPr>
              <a:t>Open chatbot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3CAAE1-E10D-4295-B53C-E70D03F6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4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45D57"/>
                </a:solidFill>
              </a:defRPr>
            </a:pPr>
            <a:r>
              <a:rPr sz="1050" b="1">
                <a:solidFill>
                  <a:srgbClr val="545D57"/>
                </a:solidFill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68DFC-59F3-45B6-8EC7-7757D848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239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6CE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D7F805-0C2A-4D34-AE61-AD1BBAB6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113919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22F8D2-DB1F-4E50-9525-02A8E537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B60AD-DC6C-48A1-A044-31DF5F25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602E3-6901-4786-91E9-F2F9375A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B92D61-B4BC-43A7-BFCB-427794DA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0516D-28A3-4D0F-B889-D7A61EE0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476375"/>
            <a:ext cx="379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0EC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1B9415-18AB-4F08-AACE-1EBD729D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43050"/>
            <a:ext cx="366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45D57"/>
                </a:solidFill>
              </a:defRPr>
            </a:pPr>
            <a:r>
              <a:rPr sz="900" b="1">
                <a:solidFill>
                  <a:srgbClr val="545D57"/>
                </a:solidFill>
              </a:rPr>
              <a:t>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5044B-5183-4CB5-9428-1FBF6A7D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022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175D32-FD1E-4BDF-B647-16360A07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7642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CGU admission + SIM additional offer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B67D9-0889-4741-A23A-E9F9A237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180022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C3D550-C64A-407B-9483-5BA44387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187642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June 9, 2026 conversation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D1B1F8-AACD-4B79-ABAA-1000A775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180022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660B5E-F7BF-424F-800C-45091491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87642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Confirmed by conversation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717B6-ECAB-4B11-B448-96024372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1933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FFE715-16C8-47DE-A29B-4C619E1B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9553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Admissions rules require MOE approval before implementation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E0B36-C592-42BA-ABCF-6FEB9B67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31933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FD9F7E-88C2-4A39-AFC1-8A70C581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39553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Taiwan University Act Article 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238278-F371-4A7B-A199-CE80B8EA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31933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CD707-682F-4375-9A53-93E6D037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39553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Confirmed by law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788CF5-F83D-4AC2-80A8-84BAC342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E09EC0-2E7D-42C5-A029-F13234E6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91465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OTC application, audit, 180-day agreement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67CB16-2FB1-4454-8B33-853188DA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283845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1D87AF-CBCC-425C-9324-57236275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291465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OTC Guide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02D773-A3CF-43CE-8D70-94DEB0DF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283845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DD7B42-60B3-4B36-8AD5-9C83D282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291465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Confirmed by SIM document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AA88F5-D731-4479-B80E-7EE97996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5756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C19F6B-7803-4E3E-A76A-1BC7EA81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3376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DMS 15 modules / 630 hours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C9F1DF-BCF6-4D9A-B8AF-DEDCDDE3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35756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BA80EA-E79B-4849-8858-79E00CD1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43376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DMS Course Info PDF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34DDDD-2133-49EA-BC2D-59E196FA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35756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FF2F02-B850-4F3F-9F37-282DFA1F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43376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Confirmed by SIM document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396027-C7B2-4182-95D8-1B5913C0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7667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CCC8BE-1D47-48E9-8B54-6D4E34D8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5287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DMS 6/9 module options and blended hours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182225-6071-4A42-AECC-CA172DD1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387667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94C785-079A-4045-8FE1-3A4FC9D2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95287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Application Form Appendix 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2637DC-D8A0-46E1-B891-C667BEE4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3876675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31A4D4-731E-4835-98CE-EDEC9C8E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3952875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Confirmed by SIM document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0BA37C-4282-4BD6-8495-05E54273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9578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B61E0EC-488C-47BF-8692-D2536411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7198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Max two modules per teacher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FA990A-D2D5-473C-92E0-44C38E08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39578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458594-8814-43D0-B895-D8C69811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47198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Teaching Profile xlsx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85FEA3-55C5-4F47-B3FC-E3D90369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395788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3DE85D1-2C84-4B80-B2F8-02677051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471988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Confirmed by SIM document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94077D1-13F3-482E-8EBF-B16E15BB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1490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F3E3755-91FC-4010-A533-7C95ACC2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99110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No-publicity and Singapore law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0775C2-F33C-4B10-BD1F-035152BD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491490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68E769-295E-4F32-8296-95296100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499110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NDA template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B74B38E-9F56-4ED4-9214-AA012E27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4914900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BC483FC-68F0-4449-BA41-CCCA73E5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991100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Confirmed by SIM document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9074C7F-03F6-4395-A93A-F5126948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3401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D8D2414-B0F2-43D8-B104-B13A465B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1021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713"/>
                </a:solidFill>
              </a:defRPr>
            </a:pPr>
            <a:r>
              <a:rPr sz="900" b="1">
                <a:solidFill>
                  <a:srgbClr val="111713"/>
                </a:solidFill>
              </a:rPr>
              <a:t>Either SIM or MOE rejection blocks launch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9D88228-15A5-4C75-90D8-55828ECC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50" y="543401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EB27F3-5240-443F-9D29-EBBCA057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551021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Synthesis of OTC Guide and University Act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B109D15-E4B4-4CB7-83E2-710D96D6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650" y="5434013"/>
            <a:ext cx="3797300" cy="519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FD6CE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500A00D-C702-4D2C-B1E9-1FCE0D60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5510213"/>
            <a:ext cx="366395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5D57"/>
                </a:solidFill>
              </a:defRPr>
            </a:pPr>
            <a:r>
              <a:rPr sz="900" b="0">
                <a:solidFill>
                  <a:srgbClr val="545D57"/>
                </a:solidFill>
              </a:rPr>
              <a:t>Briefing conclusion</a:t>
            </a:r>
          </a:p>
        </p:txBody>
      </p:sp>
    </p:spTree>
    <p:extLst>
      <p:ext uri="{BB962C8B-B14F-4D97-AF65-F5344CB8AC3E}">
        <p14:creationId xmlns:p14="http://schemas.microsoft.com/office/powerpoint/2010/main" val="14757303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2026-07-11T05:29:18.3870000Z</dcterms:created>
  <dcterms:modified xsi:type="dcterms:W3CDTF">2026-07-11T05:29:18.3870000Z</dcterms:modified>
</coreProperties>
</file>