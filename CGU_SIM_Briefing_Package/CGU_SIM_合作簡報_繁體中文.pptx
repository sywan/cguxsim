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f77c7a725e84303" /><Relationship Type="http://schemas.openxmlformats.org/officeDocument/2006/relationships/extended-properties" Target="/docProps/app.xml" Id="R335f8bd380e5460d" /><Relationship Type="http://schemas.openxmlformats.org/officeDocument/2006/relationships/officeDocument" Target="/ppt/presentation.xml" Id="R485482e26079411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bb3b44368274481"/>
  </p:sldMasterIdLst>
  <p:notesMasterIdLst>
    <p:notesMasterId xmlns:r="http://schemas.openxmlformats.org/officeDocument/2006/relationships" r:id="R56a698a7cff14758"/>
  </p:notesMasterIdLst>
  <p:sldIdLst>
    <p:sldId xmlns:r="http://schemas.openxmlformats.org/officeDocument/2006/relationships" id="256" r:id="Rf2549d35c807431b"/>
    <p:sldId xmlns:r="http://schemas.openxmlformats.org/officeDocument/2006/relationships" id="257" r:id="R663635ec63fa4c74"/>
    <p:sldId xmlns:r="http://schemas.openxmlformats.org/officeDocument/2006/relationships" id="258" r:id="R2d24798478fd4349"/>
    <p:sldId xmlns:r="http://schemas.openxmlformats.org/officeDocument/2006/relationships" id="259" r:id="R17aed720d0494546"/>
    <p:sldId xmlns:r="http://schemas.openxmlformats.org/officeDocument/2006/relationships" id="260" r:id="R449ce2cab99845fe"/>
    <p:sldId xmlns:r="http://schemas.openxmlformats.org/officeDocument/2006/relationships" id="261" r:id="R92f2b71461de499f"/>
    <p:sldId xmlns:r="http://schemas.openxmlformats.org/officeDocument/2006/relationships" id="262" r:id="R95af47b440104f13"/>
    <p:sldId xmlns:r="http://schemas.openxmlformats.org/officeDocument/2006/relationships" id="263" r:id="Rf925209798374bf6"/>
    <p:sldId xmlns:r="http://schemas.openxmlformats.org/officeDocument/2006/relationships" id="264" r:id="R100e8634c6554fb8"/>
    <p:sldId xmlns:r="http://schemas.openxmlformats.org/officeDocument/2006/relationships" id="265" r:id="Rf9443e3bd9604e86"/>
    <p:sldId xmlns:r="http://schemas.openxmlformats.org/officeDocument/2006/relationships" id="266" r:id="Rd7b0668a6dfa4966"/>
    <p:sldId xmlns:r="http://schemas.openxmlformats.org/officeDocument/2006/relationships" id="267" r:id="Rb51cf98f7f7846ea"/>
    <p:sldId xmlns:r="http://schemas.openxmlformats.org/officeDocument/2006/relationships" id="268" r:id="Rf0a035dc4eb34625"/>
    <p:sldId xmlns:r="http://schemas.openxmlformats.org/officeDocument/2006/relationships" id="269" r:id="R6dd0f732b2af4a7a"/>
    <p:sldId xmlns:r="http://schemas.openxmlformats.org/officeDocument/2006/relationships" id="270" r:id="Rfef6716e680b40d7"/>
    <p:sldId xmlns:r="http://schemas.openxmlformats.org/officeDocument/2006/relationships" id="271" r:id="R450fef1f11ea4edc"/>
    <p:sldId xmlns:r="http://schemas.openxmlformats.org/officeDocument/2006/relationships" id="272" r:id="Raa70eb45503143a8"/>
    <p:sldId xmlns:r="http://schemas.openxmlformats.org/officeDocument/2006/relationships" id="273" r:id="Ra9cb191ab88f4390"/>
    <p:sldId xmlns:r="http://schemas.openxmlformats.org/officeDocument/2006/relationships" id="274" r:id="Rd3e6c5c4a7c04340"/>
    <p:sldId xmlns:r="http://schemas.openxmlformats.org/officeDocument/2006/relationships" id="275" r:id="Reefec1dd0be04901"/>
    <p:sldId xmlns:r="http://schemas.openxmlformats.org/officeDocument/2006/relationships" id="276" r:id="R72c294efc443412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224b851c2264986" /><Relationship Type="http://schemas.openxmlformats.org/officeDocument/2006/relationships/slideMaster" Target="/ppt/slideMasters/slideMaster1.xml" Id="Rdbb3b44368274481" /><Relationship Type="http://schemas.openxmlformats.org/officeDocument/2006/relationships/notesMaster" Target="/ppt/notesMasters/notesMaster1.xml" Id="R56a698a7cff14758" /><Relationship Type="http://schemas.openxmlformats.org/officeDocument/2006/relationships/presProps" Target="/ppt/presProps.xml" Id="Rac22fcd893994688" /><Relationship Type="http://schemas.openxmlformats.org/officeDocument/2006/relationships/tableStyles" Target="/ppt/tableStyles.xml" Id="R6cbfeb9d09674965" /><Relationship Type="http://schemas.openxmlformats.org/officeDocument/2006/relationships/slide" Target="/ppt/slides/slide1.xml" Id="Rf2549d35c807431b" /><Relationship Type="http://schemas.openxmlformats.org/officeDocument/2006/relationships/slide" Target="/ppt/slides/slide2.xml" Id="R663635ec63fa4c74" /><Relationship Type="http://schemas.openxmlformats.org/officeDocument/2006/relationships/slide" Target="/ppt/slides/slide3.xml" Id="R2d24798478fd4349" /><Relationship Type="http://schemas.openxmlformats.org/officeDocument/2006/relationships/slide" Target="/ppt/slides/slide4.xml" Id="R17aed720d0494546" /><Relationship Type="http://schemas.openxmlformats.org/officeDocument/2006/relationships/slide" Target="/ppt/slides/slide5.xml" Id="R449ce2cab99845fe" /><Relationship Type="http://schemas.openxmlformats.org/officeDocument/2006/relationships/slide" Target="/ppt/slides/slide6.xml" Id="R92f2b71461de499f" /><Relationship Type="http://schemas.openxmlformats.org/officeDocument/2006/relationships/slide" Target="/ppt/slides/slide7.xml" Id="R95af47b440104f13" /><Relationship Type="http://schemas.openxmlformats.org/officeDocument/2006/relationships/slide" Target="/ppt/slides/slide8.xml" Id="Rf925209798374bf6" /><Relationship Type="http://schemas.openxmlformats.org/officeDocument/2006/relationships/slide" Target="/ppt/slides/slide9.xml" Id="R100e8634c6554fb8" /><Relationship Type="http://schemas.openxmlformats.org/officeDocument/2006/relationships/slide" Target="/ppt/slides/slide10.xml" Id="Rf9443e3bd9604e86" /><Relationship Type="http://schemas.openxmlformats.org/officeDocument/2006/relationships/slide" Target="/ppt/slides/slide11.xml" Id="Rd7b0668a6dfa4966" /><Relationship Type="http://schemas.openxmlformats.org/officeDocument/2006/relationships/slide" Target="/ppt/slides/slide12.xml" Id="Rb51cf98f7f7846ea" /><Relationship Type="http://schemas.openxmlformats.org/officeDocument/2006/relationships/slide" Target="/ppt/slides/slide13.xml" Id="Rf0a035dc4eb34625" /><Relationship Type="http://schemas.openxmlformats.org/officeDocument/2006/relationships/slide" Target="/ppt/slides/slide14.xml" Id="R6dd0f732b2af4a7a" /><Relationship Type="http://schemas.openxmlformats.org/officeDocument/2006/relationships/slide" Target="/ppt/slides/slide15.xml" Id="Rfef6716e680b40d7" /><Relationship Type="http://schemas.openxmlformats.org/officeDocument/2006/relationships/slide" Target="/ppt/slides/slide16.xml" Id="R450fef1f11ea4edc" /><Relationship Type="http://schemas.openxmlformats.org/officeDocument/2006/relationships/slide" Target="/ppt/slides/slide17.xml" Id="Raa70eb45503143a8" /><Relationship Type="http://schemas.openxmlformats.org/officeDocument/2006/relationships/slide" Target="/ppt/slides/slide18.xml" Id="Ra9cb191ab88f4390" /><Relationship Type="http://schemas.openxmlformats.org/officeDocument/2006/relationships/slide" Target="/ppt/slides/slide19.xml" Id="Rd3e6c5c4a7c04340" /><Relationship Type="http://schemas.openxmlformats.org/officeDocument/2006/relationships/slide" Target="/ppt/slides/slide20.xml" Id="Reefec1dd0be04901" /><Relationship Type="http://schemas.openxmlformats.org/officeDocument/2006/relationships/slide" Target="/ppt/slides/slide21.xml" Id="R72c294efc443412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cfe80573f2e476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fa4e2a3f3df413d" /><Relationship Type="http://schemas.openxmlformats.org/officeDocument/2006/relationships/notesMaster" Target="/ppt/notesMasters/notesMaster1.xml" Id="R9edc50bf91e54fa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08721e7ab59465d" /><Relationship Type="http://schemas.openxmlformats.org/officeDocument/2006/relationships/notesMaster" Target="/ppt/notesMasters/notesMaster1.xml" Id="Rb59379adb0804e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21f12846770420c" /><Relationship Type="http://schemas.openxmlformats.org/officeDocument/2006/relationships/notesMaster" Target="/ppt/notesMasters/notesMaster1.xml" Id="R8f3ce8c92efe40e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5cf343d35e04857" /><Relationship Type="http://schemas.openxmlformats.org/officeDocument/2006/relationships/notesMaster" Target="/ppt/notesMasters/notesMaster1.xml" Id="R5766be123a52436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0f7c8b49cd8476d" /><Relationship Type="http://schemas.openxmlformats.org/officeDocument/2006/relationships/notesMaster" Target="/ppt/notesMasters/notesMaster1.xml" Id="R085c42031b574b1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0c547d9d41a427f" /><Relationship Type="http://schemas.openxmlformats.org/officeDocument/2006/relationships/notesMaster" Target="/ppt/notesMasters/notesMaster1.xml" Id="R6315b3e8f98449f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89b4474bf2a4ac0" /><Relationship Type="http://schemas.openxmlformats.org/officeDocument/2006/relationships/notesMaster" Target="/ppt/notesMasters/notesMaster1.xml" Id="Re0fd369c7c2146c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80490ce7cc644cd" /><Relationship Type="http://schemas.openxmlformats.org/officeDocument/2006/relationships/notesMaster" Target="/ppt/notesMasters/notesMaster1.xml" Id="R6e75b8012dc44b1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9a9928ad3f640f1" /><Relationship Type="http://schemas.openxmlformats.org/officeDocument/2006/relationships/notesMaster" Target="/ppt/notesMasters/notesMaster1.xml" Id="Rf99d34e04aa4494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90c395038fc4b45" /><Relationship Type="http://schemas.openxmlformats.org/officeDocument/2006/relationships/notesMaster" Target="/ppt/notesMasters/notesMaster1.xml" Id="R6bf05ecdce83452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fbd5f88516043b2" /><Relationship Type="http://schemas.openxmlformats.org/officeDocument/2006/relationships/notesMaster" Target="/ppt/notesMasters/notesMaster1.xml" Id="R8ccc452e5f4c4f6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5e806f366474190" /><Relationship Type="http://schemas.openxmlformats.org/officeDocument/2006/relationships/notesMaster" Target="/ppt/notesMasters/notesMaster1.xml" Id="R9cc381d081cd44c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286d0d949934eca" /><Relationship Type="http://schemas.openxmlformats.org/officeDocument/2006/relationships/notesMaster" Target="/ppt/notesMasters/notesMaster1.xml" Id="R439801c550cd474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c54482faa904458" /><Relationship Type="http://schemas.openxmlformats.org/officeDocument/2006/relationships/notesMaster" Target="/ppt/notesMasters/notesMaster1.xml" Id="R87879f74d92442e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ea2e64f68a14418" /><Relationship Type="http://schemas.openxmlformats.org/officeDocument/2006/relationships/notesMaster" Target="/ppt/notesMasters/notesMaster1.xml" Id="R1e11f1a505b541e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0d0b806bad94b8a" /><Relationship Type="http://schemas.openxmlformats.org/officeDocument/2006/relationships/notesMaster" Target="/ppt/notesMasters/notesMaster1.xml" Id="Rfadb4f9389c14df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6bab92498f84159" /><Relationship Type="http://schemas.openxmlformats.org/officeDocument/2006/relationships/notesMaster" Target="/ppt/notesMasters/notesMaster1.xml" Id="R1e6e431c05e04aa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4aee19948bb4aab" /><Relationship Type="http://schemas.openxmlformats.org/officeDocument/2006/relationships/notesMaster" Target="/ppt/notesMasters/notesMaster1.xml" Id="R97e85e8e5abf429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4f833a588df4576" /><Relationship Type="http://schemas.openxmlformats.org/officeDocument/2006/relationships/notesMaster" Target="/ppt/notesMasters/notesMaster1.xml" Id="Rb0574d2ed0cc49b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3ab85d547a5476a" /><Relationship Type="http://schemas.openxmlformats.org/officeDocument/2006/relationships/notesMaster" Target="/ppt/notesMasters/notesMaster1.xml" Id="R2666c35ff276486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b9a2125064d4c61" /><Relationship Type="http://schemas.openxmlformats.org/officeDocument/2006/relationships/notesMaster" Target="/ppt/notesMasters/notesMaster1.xml" Id="R01bfe78cc19641e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4b821933bb469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18570875e644b58" /><Relationship Type="http://schemas.openxmlformats.org/officeDocument/2006/relationships/slideLayout" Target="/ppt/slideLayouts/slideLayout1.xml" Id="R4e9720e95023493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e9720e95023493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cff4c40b744d1a" /><Relationship Type="http://schemas.openxmlformats.org/officeDocument/2006/relationships/notesSlide" Target="/ppt/notesSlides/notesSlide1.xml" Id="Re0d3bac4a08443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90b0fca108460b" /><Relationship Type="http://schemas.openxmlformats.org/officeDocument/2006/relationships/notesSlide" Target="/ppt/notesSlides/notesSlide2.xml" Id="Rc4f3f09b668b419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cb9d4e800949a8" /><Relationship Type="http://schemas.openxmlformats.org/officeDocument/2006/relationships/notesSlide" Target="/ppt/notesSlides/notesSlide3.xml" Id="Re896f99152c4452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518044ef7344f0" /><Relationship Type="http://schemas.openxmlformats.org/officeDocument/2006/relationships/notesSlide" Target="/ppt/notesSlides/notesSlide4.xml" Id="R5e1698df415f4d7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30586a53254bd3" /><Relationship Type="http://schemas.openxmlformats.org/officeDocument/2006/relationships/notesSlide" Target="/ppt/notesSlides/notesSlide5.xml" Id="Rf0e97cdff2e84de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41f231baef4b5d" /><Relationship Type="http://schemas.openxmlformats.org/officeDocument/2006/relationships/notesSlide" Target="/ppt/notesSlides/notesSlide6.xml" Id="R9274ce7a568247e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9b79d630e34537" /><Relationship Type="http://schemas.openxmlformats.org/officeDocument/2006/relationships/notesSlide" Target="/ppt/notesSlides/notesSlide7.xml" Id="Rc024e542e0894f5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f748579d4b46af" /><Relationship Type="http://schemas.openxmlformats.org/officeDocument/2006/relationships/notesSlide" Target="/ppt/notesSlides/notesSlide8.xml" Id="Rd3a55e9a0f9e4c2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7ad5d2ab3141a5" /><Relationship Type="http://schemas.openxmlformats.org/officeDocument/2006/relationships/notesSlide" Target="/ppt/notesSlides/notesSlide9.xml" Id="R0d4243554efe445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126548c9564be7" /><Relationship Type="http://schemas.openxmlformats.org/officeDocument/2006/relationships/notesSlide" Target="/ppt/notesSlides/notesSlide10.xml" Id="Rb502feea7a024cb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44fc4c819542b6" /><Relationship Type="http://schemas.openxmlformats.org/officeDocument/2006/relationships/notesSlide" Target="/ppt/notesSlides/notesSlide11.xml" Id="Rd282f7fc75004c0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fc16d3a0584b88" /><Relationship Type="http://schemas.openxmlformats.org/officeDocument/2006/relationships/notesSlide" Target="/ppt/notesSlides/notesSlide12.xml" Id="R6853ca4357a6447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f17588bb054679" /><Relationship Type="http://schemas.openxmlformats.org/officeDocument/2006/relationships/notesSlide" Target="/ppt/notesSlides/notesSlide13.xml" Id="R24224f1c6f9b47c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f8f9cedf2f4ca2" /><Relationship Type="http://schemas.openxmlformats.org/officeDocument/2006/relationships/notesSlide" Target="/ppt/notesSlides/notesSlide14.xml" Id="Rcb16858525c4422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c4eb58b39a4018" /><Relationship Type="http://schemas.openxmlformats.org/officeDocument/2006/relationships/notesSlide" Target="/ppt/notesSlides/notesSlide15.xml" Id="Rd653c05379f64d3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04d2dcc6464e4b" /><Relationship Type="http://schemas.openxmlformats.org/officeDocument/2006/relationships/notesSlide" Target="/ppt/notesSlides/notesSlide16.xml" Id="R705984efdd9e43c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6874c9331f4994" /><Relationship Type="http://schemas.openxmlformats.org/officeDocument/2006/relationships/notesSlide" Target="/ppt/notesSlides/notesSlide17.xml" Id="R713d701c25b0445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d8794a802e4612" /><Relationship Type="http://schemas.openxmlformats.org/officeDocument/2006/relationships/notesSlide" Target="/ppt/notesSlides/notesSlide18.xml" Id="R47eb6f065d20469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0d332518784ba0" /><Relationship Type="http://schemas.openxmlformats.org/officeDocument/2006/relationships/notesSlide" Target="/ppt/notesSlides/notesSlide19.xml" Id="Rc82f39ca2e6648e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5459cf640140b1" /><Relationship Type="http://schemas.openxmlformats.org/officeDocument/2006/relationships/notesSlide" Target="/ppt/notesSlides/notesSlide20.xml" Id="Rbc4a9a5523fd497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b8a710311a4918" /><Relationship Type="http://schemas.openxmlformats.org/officeDocument/2006/relationships/notesSlide" Target="/ppt/notesSlides/notesSlide21.xml" Id="R10de993d1309400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0D416DA-A4B7-4392-9923-64F68C482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CGU-SIM 合作簡報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DDDACD-F38C-411B-B6A4-59CAB2984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8858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713"/>
                </a:solidFill>
              </a:defRPr>
            </a:pPr>
            <a:r>
              <a:rPr sz="3600" b="1">
                <a:solidFill>
                  <a:srgbClr val="111713"/>
                </a:solidFill>
              </a:rPr>
              <a:t>長庚大學與 SIM 合作簡報：海外教學中心申請與學生銜接路徑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7FA94A-DF9D-439F-8149-3F93C0CA3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766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45D57"/>
                </a:solidFill>
              </a:defRPr>
            </a:pPr>
            <a:r>
              <a:rPr sz="1800" b="0">
                <a:solidFill>
                  <a:srgbClr val="545D57"/>
                </a:solidFill>
              </a:rPr>
              <a:t>階段性可行性與雙核准準備方案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317B51-FFE5-4679-B02E-90AFF34D8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2324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97E872-51DA-4771-98A2-F507B6C78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666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6E7C7D-30AA-4B55-ABB6-9B976D38D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863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SIM OTC 審查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036387-32D9-44A1-A870-17B6E468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48300"/>
            <a:ext cx="2019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A58C7E-E8E0-4A77-984F-D45D5BE43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953000"/>
            <a:ext cx="2324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CAB005-25E7-4EFF-9C10-00A1EC1F9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953000"/>
            <a:ext cx="666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6B32"/>
          </a:solidFill>
          <a:ln xmlns:a="http://schemas.openxmlformats.org/drawingml/2006/main" w="9525">
            <a:solidFill>
              <a:srgbClr val="B26B3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3FABA1-CEB9-49CB-8449-4996ACEA3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863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教育部核准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C2E7A3-F9A2-40B7-9692-E82B774F7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448300"/>
            <a:ext cx="2019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941B9D-29B9-46E8-A80F-1300E5E83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953000"/>
            <a:ext cx="2324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8578B8-72CC-4A19-AEAC-1FB3A240C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953000"/>
            <a:ext cx="666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8F"/>
          </a:solidFill>
          <a:ln xmlns:a="http://schemas.openxmlformats.org/drawingml/2006/main" w="9525">
            <a:solidFill>
              <a:srgbClr val="315F8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969006-64A5-40E1-8F68-6A5692C12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863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核准後再談路徑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FA13D6-57E1-4D6C-A0A1-788CE6AA7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448300"/>
            <a:ext cx="2019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5E9D6E-97E8-4A20-9E01-3B9C9D04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0"/>
            <a:ext cx="819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45D57"/>
                </a:solidFill>
              </a:defRPr>
            </a:pPr>
            <a:r>
              <a:rPr sz="975" b="0">
                <a:solidFill>
                  <a:srgbClr val="545D57"/>
                </a:solidFill>
              </a:rPr>
              <a:t>供長庚大學教學與行政主管研議使用</a:t>
            </a:r>
          </a:p>
        </p:txBody>
      </p:sp>
    </p:spTree>
    <p:extLst>
      <p:ext uri="{BB962C8B-B14F-4D97-AF65-F5344CB8AC3E}">
        <p14:creationId xmlns:p14="http://schemas.microsoft.com/office/powerpoint/2010/main" val="136229553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F6CDD4A-D39D-41D5-96BC-372A2ED9B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長庚大學與 SIM 合作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E93332-56DF-4F51-8C8C-844692FA7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本次建議核准可行性衝刺，不是公開招生啟動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01C3DE-330A-4BA0-8925-D46F029D4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06202B-BFCF-4487-8D17-7D9D061F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2ADE7A-CAE4-4815-8D2E-39AACB80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81150"/>
            <a:ext cx="3429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80F846-EDF5-411A-94CF-10E652DA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81150"/>
            <a:ext cx="6667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180F40-3640-4C9E-AF90-9A20B0FD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建議核准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888912-EC0D-4465-9D02-93F3CB68C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76450"/>
            <a:ext cx="3124200" cy="3409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成立 CGU-SIM 推動小組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NDA 法務審閱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教育部招生核准路徑評估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6/9 門師資盤點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B731D2-D8B7-4542-9884-13DEA7894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81150"/>
            <a:ext cx="3429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EEA0B5-4EA1-4BB7-85D5-9F5C5BA0E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81150"/>
            <a:ext cx="6667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6B32"/>
          </a:solidFill>
          <a:ln xmlns:a="http://schemas.openxmlformats.org/drawingml/2006/main" w="9525">
            <a:solidFill>
              <a:srgbClr val="B26B3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CF3633-6BD4-40CF-9DD4-80DBEE4F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714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暫緩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C3A7B2-65F5-441A-98B8-70435AFEB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76450"/>
            <a:ext cx="3124200" cy="3409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公開招生文宣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雙聯學位承諾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附件前決定最終範圍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雙核准前招募學生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F45CCD-54C1-41A7-8C8D-A56805F3A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581150"/>
            <a:ext cx="3429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7B8241-6EDF-49A9-B6F8-CA7C86ED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581150"/>
            <a:ext cx="6667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8F"/>
          </a:solidFill>
          <a:ln xmlns:a="http://schemas.openxmlformats.org/drawingml/2006/main" w="9525">
            <a:solidFill>
              <a:srgbClr val="315F8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81810B-DC36-4631-BE0D-8C2D47A6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714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交辦查證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5A26D5-2AD2-4B68-8417-5F97BF643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124200" cy="3409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SIM 課程序列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教育部獨立招生路徑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授課分工與課表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費用分潤與班級門檻</a:t>
            </a:r>
          </a:p>
        </p:txBody>
      </p:sp>
    </p:spTree>
    <p:extLst>
      <p:ext uri="{BB962C8B-B14F-4D97-AF65-F5344CB8AC3E}">
        <p14:creationId xmlns:p14="http://schemas.microsoft.com/office/powerpoint/2010/main" val="10066295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36706FA-1899-4CE6-BD85-B2ABE3480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長庚大學與 SIM 合作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79A14A-E356-4F15-AA82-DAF4F8F44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本案實質內容是 OTC 基礎加上受規範的招生路徑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E31625-6E1E-451F-A9A5-1D645FFA1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F5C28D-BE48-4C2D-AAD3-8DD77DB03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5CB29F-9391-4E78-BF7D-BFD3BAC63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48577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8D2930-4A32-426A-8E12-CC6F25B3A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666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5ED9AD-7E7B-453D-B33A-6C3607720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431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基礎層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1FB034-CA08-4421-8F93-5199D0FD0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45529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長庚申請成為 SIM Overseas Teaching Centre，在台灣依 SIM 品質規範開授 SIM 文憑模組。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SIM 文件確認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DBB3BD-F9EA-4130-9B84-71117E480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1809750"/>
            <a:ext cx="48577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EDE486-8C4C-4394-B93C-216E87EE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1809750"/>
            <a:ext cx="666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8F"/>
          </a:solidFill>
          <a:ln xmlns:a="http://schemas.openxmlformats.org/drawingml/2006/main" w="9525">
            <a:solidFill>
              <a:srgbClr val="315F8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AA6AF6-97CA-448C-B498-31B6F4BF3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9431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法規層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C59A57-E503-4301-B2BD-27DA137F6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305050"/>
            <a:ext cx="45529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若長庚平行學測／分科路徑招收不同學費 cohort，獨立招生需取得台灣教育部核准。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大學法第 24 條確認；細節待釐清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FAE050-59D9-46D1-A81B-700B62295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076575"/>
            <a:ext cx="1095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713"/>
          </a:solidFill>
          <a:ln xmlns:a="http://schemas.openxmlformats.org/drawingml/2006/main" w="9525">
            <a:solidFill>
              <a:srgbClr val="11171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0BABDB-8C9A-42EE-A0CF-CA3132B01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00350"/>
            <a:ext cx="47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111713"/>
                </a:solidFill>
              </a:defRPr>
            </a:pPr>
            <a:r>
              <a:rPr sz="2700" b="1">
                <a:solidFill>
                  <a:srgbClr val="111713"/>
                </a:solidFill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571406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0C95BB-4D93-4B44-8535-8E96D43F3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長庚大學與 SIM 合作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009E0A-7D5F-479E-BDDE-3C358FD66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對長庚的策略意義是招生品質與安全轉銜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0409FE-2732-40BD-980E-38FB9C7D5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57BCEA-0CF9-46AF-832E-568464C24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205A0D-7D07-45EB-A48A-BFEC3D1B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108394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FC75D1-9CB0-4775-A876-7388B6988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1745B8-AC52-421E-B780-3A5B96244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57350"/>
            <a:ext cx="1055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核心判斷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6067D4-011C-4A51-922A-674B1C25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10534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本案不是單純補足名額，而是吸引希望走海外學位路徑、但希望先在台灣起步的較強學生。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27D783-5796-492F-B7C2-F52903790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0375"/>
            <a:ext cx="10287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713"/>
                </a:solidFill>
              </a:defRPr>
            </a:pPr>
            <a:r>
              <a:rPr sz="1500" b="0">
                <a:solidFill>
                  <a:srgbClr val="111713"/>
                </a:solidFill>
              </a:rPr>
              <a:t>• 家長可能偏好先在台灣確認適應能力，再赴新加坡。</a:t>
            </a:r>
          </a:p>
          <a:p xmlns:a="http://schemas.openxmlformats.org/drawingml/2006/main">
            <a:pPr algn="l">
              <a:defRPr sz="1500" b="0">
                <a:solidFill>
                  <a:srgbClr val="111713"/>
                </a:solidFill>
              </a:defRPr>
            </a:pPr>
            <a:r>
              <a:rPr sz="1500" b="0">
                <a:solidFill>
                  <a:srgbClr val="111713"/>
                </a:solidFill>
              </a:rPr>
              <a:t>• SIM 觀察到台灣大一休學赴海外者常浪費第一年學習。</a:t>
            </a:r>
          </a:p>
          <a:p xmlns:a="http://schemas.openxmlformats.org/drawingml/2006/main">
            <a:pPr algn="l">
              <a:defRPr sz="1500" b="0">
                <a:solidFill>
                  <a:srgbClr val="111713"/>
                </a:solidFill>
              </a:defRPr>
            </a:pPr>
            <a:r>
              <a:rPr sz="1500" b="0">
                <a:solidFill>
                  <a:srgbClr val="111713"/>
                </a:solidFill>
              </a:rPr>
              <a:t>• 若長庚課程本身為 SIM 認可模組，可降低學習浪費。</a:t>
            </a:r>
          </a:p>
          <a:p xmlns:a="http://schemas.openxmlformats.org/drawingml/2006/main">
            <a:pPr algn="l">
              <a:defRPr sz="1500" b="0">
                <a:solidFill>
                  <a:srgbClr val="111713"/>
                </a:solidFill>
              </a:defRPr>
            </a:pPr>
            <a:r>
              <a:rPr sz="1500" b="0">
                <a:solidFill>
                  <a:srgbClr val="111713"/>
                </a:solidFill>
              </a:rPr>
              <a:t>• 保留率與長庚學位仍重要，但在規則確認前應列為次要指標。</a:t>
            </a:r>
          </a:p>
        </p:txBody>
      </p:sp>
    </p:spTree>
    <p:extLst>
      <p:ext uri="{BB962C8B-B14F-4D97-AF65-F5344CB8AC3E}">
        <p14:creationId xmlns:p14="http://schemas.microsoft.com/office/powerpoint/2010/main" val="30767061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E8FCB0-8F4D-4AED-8746-BCFE6025E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長庚大學與 SIM 合作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D79BAE-C9DD-4747-81AF-ACE0A8EF5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兩個外部核准共同決定學生路徑能否啟動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7A0490-B1E3-42DD-88AE-8A1A9803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5FA56E-5AB8-4F97-B10D-FFC0E40BC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FDAD94-8835-4C28-8D02-83A53D68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113919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6587D-D0E7-4F9F-96BA-C4CE73215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EFDDDE-E998-488D-917B-E9DACBFB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關卡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B8FF36-5BE1-4A29-9555-C1F6027EB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4DAF8F-E747-42FC-A97C-95603A193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為何重要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E8C64A-33D0-40B2-8CDA-4004FB3E9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399368-B5C8-4D30-9442-AC10B7EB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對方案設計的意涵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4FBB34-B5EF-4B31-BEC4-D20B535D6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0225"/>
            <a:ext cx="3797300" cy="138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71D76C-B996-46F8-8D8E-ACE344D00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76425"/>
            <a:ext cx="3663950" cy="128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SIM OTC 核准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A9008B-6C33-4310-8025-54B91050B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800225"/>
            <a:ext cx="3797300" cy="138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CC6F95-36A5-463E-A92A-AB32D06E8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876425"/>
            <a:ext cx="3663950" cy="128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長庚需取得 SIM 同意，才能依 SIM 品質規範開授 DMS 模組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7CB6FF-DFFB-404D-87EB-02EFF3B02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800225"/>
            <a:ext cx="3797300" cy="138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4E7390-A74E-4D70-BB18-81F24ED9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876425"/>
            <a:ext cx="3663950" cy="128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未取得 OTC 核准，就沒有 SIM 認可的教學中心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3359A7-A7FD-42AF-8B9F-3C150A41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4525"/>
            <a:ext cx="3797300" cy="138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A5128F-07C0-4E71-A26C-5C615CC45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60725"/>
            <a:ext cx="3663950" cy="128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台灣教育部招生核准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D0A224-2573-463A-AF16-82A0F704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3184525"/>
            <a:ext cx="3797300" cy="138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5C1E69-7F80-43C7-BCA7-B11CCC1B0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260725"/>
            <a:ext cx="3663950" cy="128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大學法第 24 條要求招生規定報教育部核定後實施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041073-9A43-42E0-8F86-E6F0A469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3184525"/>
            <a:ext cx="3797300" cy="138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8092C8-2572-4DB0-8A4C-73C82CB20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260725"/>
            <a:ext cx="3663950" cy="128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未取得教育部核准，就不能啟動平行學測／分科的 CGU-SIM 招生模式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0ED927-0EE1-4F73-9DE7-A3B67C8C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68825"/>
            <a:ext cx="3797300" cy="138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402E26-D52C-4748-B535-97B8D1308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645025"/>
            <a:ext cx="3663950" cy="128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共同開辦決策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BE83D1-27A4-4E51-A7C8-5C47B20C4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4568825"/>
            <a:ext cx="3797300" cy="138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86E43D-4A98-4766-9E8B-0E201D3F2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4645025"/>
            <a:ext cx="3663950" cy="128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招生、學費、學籍與赴 SIM 銜接是同一個學生面對的承諾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2ED7F0-9958-47C3-9D2E-64DDD739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4568825"/>
            <a:ext cx="3797300" cy="138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A50EF8D-61A8-4D16-89FE-DB5717DA5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645025"/>
            <a:ext cx="3663950" cy="128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未雙核准前，不應對外招生</a:t>
            </a:r>
          </a:p>
        </p:txBody>
      </p:sp>
    </p:spTree>
    <p:extLst>
      <p:ext uri="{BB962C8B-B14F-4D97-AF65-F5344CB8AC3E}">
        <p14:creationId xmlns:p14="http://schemas.microsoft.com/office/powerpoint/2010/main" val="175008510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44D050-0BD8-464B-93BA-BE40D0CEE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長庚大學與 SIM 合作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AE7BAF-97E8-42E3-9773-7846E0960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SIM 五份文件共同定義合作結構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6B10FB-AEB3-405C-8F54-B3F8A3541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B7452C-F1E9-412F-BBD5-D660D18B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C4C455-3087-4791-9BB1-533CA5A2C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113919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859B29-C705-44E5-8B79-617CB764F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84A786-844A-4439-AA7C-38B07D2C9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SIM 文件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82E64F-D3A1-4307-B21C-5F7158578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EED0FC-B716-4F31-960D-A3F21D0D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結構功能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4E17BB-869A-4C6C-B755-D77C49C3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7F3B22-13F7-4438-B694-3458CAC75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對方案設計的影響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7B51CF-E566-4E45-B70D-4B9CE3BDB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022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00B0A0-706A-4DAC-85DB-71FA85A58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7642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OTC Application Guide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118E89-C18C-43DE-911E-E147B453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80022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F590A7-6D37-4D64-A25F-B08C77C5F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87642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定義申請、稽核、師資審查、簽約、認證與年度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79DE0E-30B6-4E77-9D0D-4F763D00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80022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687911-73AA-460D-AED3-AE04900C6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87642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先把 OTC 視為基礎層，再談學生路徑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9FAD7E-DF8A-4416-9C7E-ACEF8DC6F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3080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E7D0F5-1BF5-42EC-AABC-30A92D168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70700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Application Form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3012C5-0EDD-4E76-95B1-C0561FE3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263080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EACAF2-2694-4DE8-82ED-2144D6241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270700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定義場地、授課、師資、考務、支持、招生與 intake 佐證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8F9A27-E5DA-494C-89F8-E1E04DA57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263080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6F0C49-BB02-418C-8902-01A1776F4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270700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把合作構想轉成跨單位申請佐證工程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247C6B-EF21-416E-92D2-12DBA9022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6138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569C80-D5D7-4DB1-AEA1-7A5CAFCEC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53758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NDA Template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D54173-5907-446A-A341-0A7EB461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346138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47B48C-D69F-45D9-B3EC-6A9A2416B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53758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控制附件取得、資訊使用、不得公開宣傳、PDPA、新加坡法與管轄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2B826B-06EE-464B-B8E1-EF34F6451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346138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7D14C1-16BE-493D-ABA2-FA6BA9EA5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53758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法務審閱是第一關，也限制招生文宣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1DCADD-CF9D-4748-85BB-4A91AE364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9196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539C89-71A2-4B86-B6A6-DA45F301C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36816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Teaching Profile Form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3B8B162-E636-4B7F-8AFF-2CBC3DCD4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429196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6A7FD9B-6997-4A74-95D7-00DF9428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436816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控制授課教師資格、模組分配與證書成績單佐證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E58AD3F-DD72-46FC-AA4E-A60CF3C5B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429196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6D3E0C0-3981-4FFC-BAC7-6BF816054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36816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形成 6/9 門師資瓶頸與英語授課檢核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92D34DA-B5CD-4B6E-BD0E-6F2D9AB4C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2254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CADC394-335D-4A9F-AAF5-BD3E7694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19874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DMS Course Info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A38543A-522A-4A47-9C96-421980520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512254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5AD4C57-4CED-47C3-90C7-EC582544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519874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定義 15 個月、15 門課、每門 42 學時、總計 630 學時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FBD582D-86EE-45B2-A3F9-D61DB1A70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512254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B1E94B2-FC9B-4230-90D0-773923EB2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519874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提供學分抵認與銜接路徑設計的課程基礎</a:t>
            </a:r>
          </a:p>
        </p:txBody>
      </p:sp>
    </p:spTree>
    <p:extLst>
      <p:ext uri="{BB962C8B-B14F-4D97-AF65-F5344CB8AC3E}">
        <p14:creationId xmlns:p14="http://schemas.microsoft.com/office/powerpoint/2010/main" val="110937687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8E651D-EC71-4E68-88AF-1D8EF17D6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長庚大學與 SIM 合作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2B94B9-145B-4FFD-B26F-D663FA2BD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五份文件也定義需要測試的教學模式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EF5136-F255-4897-BBBC-9F33CA63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FB8DA5-3221-4DB5-A6C8-E8644328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7A5EBC-CEFC-4793-A942-084E9DDC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113919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150EB6-73F2-417C-AB88-88F33C9D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DB9F86-D8F6-4382-9478-6517AA0F2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教學元素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047134-F81D-4EB9-BB58-A4346E18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FD1249-338B-4376-9AB7-8F159E54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文件訊號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0ABD24-FCA1-45E7-984F-C1D965633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2DF9ED-4495-46BA-9DA1-F6805894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後續設計意涵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FCC27F-4B38-41D7-9C74-EA25A21E7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022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6C2A96-E7D7-4F80-9867-A2F5C0942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7642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課程主幹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DC3704-5EC0-4BF2-80FF-FD0ABA7A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80022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2B2D35-BBAD-4480-9134-03AE8DF00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87642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DMS Course Info 固定 15 門課與溝通、數量、經濟、法律、IT、財會、人資、營運等學習目標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987B86-BB52-4D2E-AEFC-3034275E1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80022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7840C0-129F-403E-9AB2-F521A450B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87642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以 learning outcome 做銜接，不只比對課名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82FB83-F474-4A41-9A3E-E30DA76A0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3080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4F55B5-0751-41DD-8268-B5AE3DF8E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70700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混成授課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E44993-F5A5-4C60-B858-265F98BBD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263080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6BCFEB-0D8F-4400-A54D-66F34570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270700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Application Form Appendix A 列出 SIM 與 OTC 依課型分擔接觸學時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A5FB5A-E328-4944-B2D5-E30CBB250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263080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C0E4DA-BC61-46A0-908E-2F73DAAAC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270700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需校準 6 月 9 日會談中的 50/50 說法與正式 appendix／Annex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2AF3A3-4D30-4F1B-975E-AABEBA15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6138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AFA2EF-2FD2-4C9B-9973-D29542E3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53758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師資資格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621899-5A25-44BB-B78B-F1600E604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346138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7B2D39-47C0-43CD-9250-302CACBA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53758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Teaching Profile Form 要求模組、經驗、資格、英語能力、證書與成績單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E31AB0-C231-4BD5-B89F-EFAAD843A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346138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F7EAF8-4C28-4E76-94EC-4E5EBE3F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53758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先建立師資準備矩陣，再決定 6 或 9 門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B8FA58E-F7B6-4F2F-B722-B60C1F223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9196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CE4A26-99A8-498F-81B2-3E3A52900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36816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評量控制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0EA4AF3-7634-4B90-90EC-D34ED645A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429196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91B4A8-0DA6-431C-ADF8-7658D25E6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436816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Application Form 與 6 月 9 日會談顯示考試在長庚、試題由 SIM 來，批改流程待釐清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4D4583-294B-4F67-931E-8B7810105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429196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2DD4768-D817-4F3A-B23C-659CBF34A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36816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需確認試題保管、監考、批改、試卷送回與成績登錄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CBD9901-D4B6-4E09-BBFE-23ABCF203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2254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022F29D-0876-4C46-B971-C05FF9155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19874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品質保證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D6F4613-D6EB-4B38-B504-949D24E9F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512254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7DE577B-2A48-4536-8F31-364AA873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519874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OTC Guide 要求審查、audit、首屆後認證與年度 review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9FF0B44-F3EA-4EE8-A2E0-A4A66F92C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512254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6CCDF4D-D43D-4AA5-ACCA-222E2DAA4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519874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應作為可被稽核的教學中心，而非單純招生路徑</a:t>
            </a:r>
          </a:p>
        </p:txBody>
      </p:sp>
    </p:spTree>
    <p:extLst>
      <p:ext uri="{BB962C8B-B14F-4D97-AF65-F5344CB8AC3E}">
        <p14:creationId xmlns:p14="http://schemas.microsoft.com/office/powerpoint/2010/main" val="5709378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1EBF5F-0156-47F6-95BD-282DE34B8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長庚大學與 SIM 合作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1E8C68-B312-4A77-AD23-F24A04F33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學生路徑構想有已確認步驟，也有政策缺口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827BA6-5A77-4DE4-A81D-B16796972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E9D5AD-3BE4-46F9-8B09-B0FFF394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7917B5-C40A-4A76-B098-97B601894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722B30-45C1-459B-A763-F04DA1D30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04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E3CA60-6EF7-4B60-B2C6-CD4D6D7CC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14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長庚招生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A75783-38D6-4FCA-B407-48865BA1D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562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平行於學測／分科既有管道之 distinct cohort；需教育部核准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826EB4-A1A5-47C4-BFD9-241F334F0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812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4E8190-66A5-4506-989E-EE2E1F0C1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8F"/>
          </a:solidFill>
          <a:ln xmlns:a="http://schemas.openxmlformats.org/drawingml/2006/main" w="9525">
            <a:solidFill>
              <a:srgbClr val="315F8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06D79B-3079-4906-9C27-242D45566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66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7F3218-3AFE-486D-A5BA-5CBB5C7C6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76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SIM offer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6F2088-27FE-471A-BBAD-DB329FE12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24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SIM 另發 offer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A9DB8E-18AF-459F-9536-F17FFD3DB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86F0F8-156E-451A-A349-7E31DA865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81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FA423B-0F80-452F-B7F1-ED43532CB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28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4AC99B-6440-49BC-854A-29EA386D9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038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長庚開授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BD4F5B-4FA9-4D33-8CC0-673A3644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86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長庚開授 6-9 門 DMS 模組並搭配 SIM 線上部分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0ECB90-F83B-456B-A342-828E6F20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052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E24876-32FF-4C68-9874-7BAB9E2BC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8F"/>
          </a:solidFill>
          <a:ln xmlns:a="http://schemas.openxmlformats.org/drawingml/2006/main" w="9525">
            <a:solidFill>
              <a:srgbClr val="315F8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BC5332-0F25-4341-AE45-E6D02E3C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90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E925B0-BAF8-490C-9595-824DD9BE6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00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赴 SIM 新加坡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B8082F-D8BE-4528-BA54-12B2532B6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848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可轉為 SIM 學生；長庚學籍待釐清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99BA72-D611-436D-986A-92797C480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672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2ACFEC-6FE5-48B6-8BBF-1FB5C9D4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05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271E39-5DA7-45AD-A721-C94862D0C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52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A09B44-886F-4207-B8D5-AD8A27984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62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選配回流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BE5577-85BF-46F5-A911-2BC119CB3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10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若要長庚學位，再回長庚補足學分／時間</a:t>
            </a:r>
          </a:p>
        </p:txBody>
      </p:sp>
    </p:spTree>
    <p:extLst>
      <p:ext uri="{BB962C8B-B14F-4D97-AF65-F5344CB8AC3E}">
        <p14:creationId xmlns:p14="http://schemas.microsoft.com/office/powerpoint/2010/main" val="119401121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BCAD2AC-D564-4DDA-9867-2F36B916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長庚大學與 SIM 合作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0B44A2-B6C2-4D7D-847C-B750C7DFF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SIM OTC 申請流程形成清楚的制度關卡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4C3021-2620-45CD-AD91-E32131180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FDE795-DA41-4EF4-A4E2-313B43DA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D73BBD-076F-4851-9B85-9A004CFD3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BC06B7-C1D4-45FD-BD41-E575BD49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04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339668-002B-4C16-AE2F-4AA5C796A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14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送件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47AD58-1F08-4B3B-BC8B-B7CD6239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562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完整 Application Form 與佐證文件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C4E8AC-FF70-4C85-88C3-77F72A5EF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812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E77A43-49F2-4AD7-85EE-C22C436FC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8F"/>
          </a:solidFill>
          <a:ln xmlns:a="http://schemas.openxmlformats.org/drawingml/2006/main" w="9525">
            <a:solidFill>
              <a:srgbClr val="315F8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BD769C-E0CD-47EC-86A3-4A6D40604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66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1059DD-C86B-4DBA-BC0A-50F946872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76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SIM 審查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DB68B8-3A97-4B14-BEA9-119BC8378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24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完整性審查與補件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DB6263-3AFF-4457-A3D7-73E4E5323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368A6C-2191-4299-A224-CC0F4E8E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81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E75C8C-3F05-4BAA-B6E8-85FFABC12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28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C5F5AC-D359-40DF-8731-EDEA557B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038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稽核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E61681-E510-410B-9DEB-D5F2BAB1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86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SIM 指派人員 onsite audit；費用可能由申請方負擔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EB14CD-C8AC-4688-A1E8-F81F9F179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052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11BA12-BB44-4944-B2D5-A75D6B4BB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8F"/>
          </a:solidFill>
          <a:ln xmlns:a="http://schemas.openxmlformats.org/drawingml/2006/main" w="9525">
            <a:solidFill>
              <a:srgbClr val="315F8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FD1403-E198-4029-B28F-8FB599C4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90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E6B18A-D957-452C-B061-75D419B27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00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師資審查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13CEAA-CDC9-40DC-B955-1502DD179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848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Academic Staff Profile 線上審查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5457A1-0B62-48B3-B526-818D39CA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672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8A436F-B853-48CD-8A9E-9B538CFBD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05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AC08E8-4D42-42FA-9CA1-1BBBD261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52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C43BA2-C5B5-4EE7-A049-B888CB82B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62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核准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6AA7DC-D6D0-47E3-AB14-9484501C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10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SIM 最終決定；核准後 180 日內簽約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484C1F-A360-47F8-BCE0-9294229D9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292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F69B47A-F68C-47B9-A898-D956373D1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8F"/>
          </a:solidFill>
          <a:ln xmlns:a="http://schemas.openxmlformats.org/drawingml/2006/main" w="9525">
            <a:solidFill>
              <a:srgbClr val="315F8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051A65-40DE-4040-8CEA-45DA63A2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14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BF08C92-63A2-4E89-A66F-F3DC334A7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24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首屆後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EB7D07E-0BDA-4DFF-8287-B8D57F1C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372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認證與年度進展 review</a:t>
            </a:r>
          </a:p>
        </p:txBody>
      </p:sp>
    </p:spTree>
    <p:extLst>
      <p:ext uri="{BB962C8B-B14F-4D97-AF65-F5344CB8AC3E}">
        <p14:creationId xmlns:p14="http://schemas.microsoft.com/office/powerpoint/2010/main" val="110713940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E61C3C-0095-4557-8F31-421DB276D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長庚大學與 SIM 合作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720016-7A37-4275-ADD3-60465B640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DMS 是明確的 15 個月、15 門課、630 接觸學時課程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300601-6B1B-4F6B-8447-5EBC5618C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E9AE0E-1E32-4FBA-AB88-648E5A981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D3C7B5-2550-43AA-9D22-9A23894F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2571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E4E5AA-791D-48A3-A9D9-23B6EF9F1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666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12399E-F1E0-4F3F-8052-AD00B63C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15 個月全日制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44313C-A734-4F99-820C-AC0F8765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24050"/>
            <a:ext cx="22669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2DABD5-5BCF-44CB-98D2-22382873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28750"/>
            <a:ext cx="2571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EBAC10-2654-49D8-8605-86DCBF8EB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28750"/>
            <a:ext cx="666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8F"/>
          </a:solidFill>
          <a:ln xmlns:a="http://schemas.openxmlformats.org/drawingml/2006/main" w="9525">
            <a:solidFill>
              <a:srgbClr val="315F8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F196AD-32AF-455C-8D07-BC506F151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621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15 門課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390BEA-5FEE-4493-B6EB-747909ED9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924050"/>
            <a:ext cx="22669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9ED523-9E04-474D-ABDB-255709D5A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428750"/>
            <a:ext cx="2571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992ACD-C418-48AB-9F33-5FBDB5D8F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428750"/>
            <a:ext cx="666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6B32"/>
          </a:solidFill>
          <a:ln xmlns:a="http://schemas.openxmlformats.org/drawingml/2006/main" w="9525">
            <a:solidFill>
              <a:srgbClr val="B26B3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A635E0-4294-4684-B5A9-6D2D17B8B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621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每門 42 接觸學時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B4DBD4-5EB6-4CEC-9CE4-ADC9D7849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24050"/>
            <a:ext cx="22669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7EE90A-BDC8-441C-BC9E-E3729AA38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428750"/>
            <a:ext cx="2571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43067A-A1B5-4472-8F78-DFCC5C62F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428750"/>
            <a:ext cx="666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423F"/>
          </a:solidFill>
          <a:ln xmlns:a="http://schemas.openxmlformats.org/drawingml/2006/main" w="9525">
            <a:solidFill>
              <a:srgbClr val="A6423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A79241-1FA6-4021-84AE-CD379ABF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5621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總計 630 接觸學時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3BE381-28EB-448D-9DB9-3892143CA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924050"/>
            <a:ext cx="22669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B2AD10-56AC-4D1F-92E9-BD4C7C7A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953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1. English For Business</a:t>
            </a:r>
          </a:p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2. Business Communications</a:t>
            </a:r>
          </a:p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3. Business Mathematics</a:t>
            </a:r>
          </a:p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4. Microeconomics</a:t>
            </a:r>
          </a:p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5. Macroeconomics</a:t>
            </a:r>
          </a:p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6. Business Law</a:t>
            </a:r>
          </a:p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7. Business Statistics</a:t>
            </a:r>
          </a:p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8. Operations Management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3A0E1E-B81C-4C59-99AF-7ADF0C8CD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428875"/>
            <a:ext cx="5334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9. Managerial Accounting</a:t>
            </a:r>
          </a:p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10. Information Systems for Business</a:t>
            </a:r>
          </a:p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11. Financial Accounting</a:t>
            </a:r>
          </a:p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12. Principles of Marketing</a:t>
            </a:r>
          </a:p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13. Managing Human Resources</a:t>
            </a:r>
          </a:p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14. Managing People and Organisations</a:t>
            </a:r>
          </a:p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15. Business Finance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C6EEC4-F2C0-43AB-8FD6-C47AA2868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86375"/>
            <a:ext cx="108394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66409F-79CE-490E-B020-32835130E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86375"/>
            <a:ext cx="666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6B32"/>
          </a:solidFill>
          <a:ln xmlns:a="http://schemas.openxmlformats.org/drawingml/2006/main" w="9525">
            <a:solidFill>
              <a:srgbClr val="B26B3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217CD2-68A5-4167-AE94-BEDF45A77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19725"/>
            <a:ext cx="1055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時程控管提醒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42ECBD-0569-490A-A780-62E03F49E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81675"/>
            <a:ext cx="105346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SIM 確認前不可鎖定長庚課程序列：DMS PDF 與 xlsx Data sheet 清單不同。</a:t>
            </a:r>
          </a:p>
        </p:txBody>
      </p:sp>
    </p:spTree>
    <p:extLst>
      <p:ext uri="{BB962C8B-B14F-4D97-AF65-F5344CB8AC3E}">
        <p14:creationId xmlns:p14="http://schemas.microsoft.com/office/powerpoint/2010/main" val="129545640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E1E648E-F31F-4D64-BA5B-928AB8543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長庚大學與 SIM 合作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DF98BB-5470-4B98-BB0B-A284A1E00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6 門與 9 門情境差異在師資、課表與招生核准風險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7354FC-90BD-42D4-A3F3-1C46CC9C2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A29346-DFCF-46DF-A39E-9C0491006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893527-E0E5-4776-B18D-7E6FBEA97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113919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4E337F-9E72-422D-8A3C-481147041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28479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84EAEF-ACD3-473F-843C-6D5784C2D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43050"/>
            <a:ext cx="2714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情境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040F00-75DB-491F-A7F2-6D86BB202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1476375"/>
            <a:ext cx="28479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D31102-46C4-400A-B5E6-7B549E276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543050"/>
            <a:ext cx="2714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價值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E472E2-4051-4BE4-B2B1-5A0C65CFC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76375"/>
            <a:ext cx="28479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B0936B-E41D-4AD1-815A-C94EE44DD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543050"/>
            <a:ext cx="2714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負荷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8972AE-9074-4055-ACE9-FEBA5ECF5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1476375"/>
            <a:ext cx="28479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08BB4A-C953-4F08-8099-CD2E04C32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1543050"/>
            <a:ext cx="2714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主要風險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651FE9-F2C0-4D34-A390-49290F5CC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0225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A06465-0BCA-4CE2-9746-816A1447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76425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長庚開授 6 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C186EF-1761-46C3-96AF-965979E8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1800225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7D5974-C468-4E5B-8EC1-829F77BD5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876425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在台階段較快、師資負荷較低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191123-6523-4A98-A9DD-82CF3FA26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00225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E94848-1A93-42A6-963B-28EA12996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76425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至少 3 位合格教師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E99AC5-94EB-4BE4-B466-8AB544791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1800225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4DC752-0060-48A8-B9C6-86D50D573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1876425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教育部未核准且對長庚抵修可能不足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0FC2D2-B6D0-4C55-98B8-F6BA7B82C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38450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9FB63F-B01D-431A-8557-25780D1BF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914650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長庚開授 9 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04A0D2-E413-4804-BD09-5EFB80CF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2838450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1C5A3A-8019-478C-8871-C71548F06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914650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在台準備較完整，mapping 價值較高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179D11-F394-47E2-A241-4C52730E3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38450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CC2F8B-6647-4A71-A698-B4D8DCF0B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914650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至少 5 位合格教師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598050-7534-4329-BCD2-4D02F39A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838450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ED3F21D-98F3-4C45-ACF1-F1178E51C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914650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師資、排課與招生核准複雜度較高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F64E0B-FC1A-4E7F-80CA-DE3AEE11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76675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B91EC11-E5D6-4FE9-BE1C-442126A1C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52875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OTC-only pilot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649E145-8BED-431C-95DA-063F07B3F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876675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FFA203C-07EC-419B-B581-34BC2724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3952875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先測試營運再談路徑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C37E9A9-2132-45DB-B2E7-6805DE519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76675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36E50FA-7D48-4516-90E1-2939F9ED7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52875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可用較小範圍啟動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C288F74-FBA6-408F-AF08-10C0C4F58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876675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0826E83-8833-44EC-B75E-7DE7240C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952875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若招收 distinct cohort，教育部仍是關卡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B997EF9-F009-4BA0-B08E-CA0143094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14900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7C73E4F-BDFD-4ADE-BEC6-DA950F35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991100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選配長庚學位回流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69F9672-EDD7-475C-B615-62B62941D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914900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850E9CC-AE77-48B4-B691-4BEEBC672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4991100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保留取得長庚學位可能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4FAE1CF-1235-4ECA-9917-50016D37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914900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EB6E643-D98D-40B4-91C6-B485DB36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991100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視回流課程而定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B30CA4B-183F-4EB6-9E58-B53F73665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4914900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19DEB73-0D5B-4BDD-9341-28A08C34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991100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規則確認前不可宣傳</a:t>
            </a:r>
          </a:p>
        </p:txBody>
      </p:sp>
    </p:spTree>
    <p:extLst>
      <p:ext uri="{BB962C8B-B14F-4D97-AF65-F5344CB8AC3E}">
        <p14:creationId xmlns:p14="http://schemas.microsoft.com/office/powerpoint/2010/main" val="163894677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25F477-F48F-4C01-915D-9291926EB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長庚大學與 SIM 合作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9A958F-DF3A-4549-9476-44405283A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學分、學籍與長庚學位是主要校內限制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D7D7A0-FEB3-4C38-B4A1-05682C02A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E5CBCA-D8B5-4AE7-8438-E374AB02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FD5048-3DA0-4259-AD62-7E0F935B2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81150"/>
            <a:ext cx="3429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8CBCB4-4AD3-43B4-B970-F9F9F9339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81150"/>
            <a:ext cx="6667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D83A3D-0CDA-4BC7-927E-604F7C6BD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學分規則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B01B2F-3D12-4708-B5A0-CB8DCEE4A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76450"/>
            <a:ext cx="3124200" cy="3409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至少半數長庚學分／時間需在長庚或台灣完成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需確認依學分、時間、在校期間或混合計算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264A3A-BB27-41A3-B136-CF7D761B3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81150"/>
            <a:ext cx="3429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54358D-3BB0-4552-92CF-9AC11050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81150"/>
            <a:ext cx="6667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6B32"/>
          </a:solidFill>
          <a:ln xmlns:a="http://schemas.openxmlformats.org/drawingml/2006/main" w="9525">
            <a:solidFill>
              <a:srgbClr val="B26B3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487DB0-135A-4049-AB61-DD26D78E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714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學籍規則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4C3E55-8C2A-4843-9E47-AE75B90CD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76450"/>
            <a:ext cx="3124200" cy="3409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赴 SIM 後是否保留長庚學籍尚未定案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可能採休學或退學，除非學生回流取得長庚學位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E8CD6F-4CD3-4A7A-9401-36C83325C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581150"/>
            <a:ext cx="3429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2591CD-E4BC-4AB7-A30E-311B515CA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581150"/>
            <a:ext cx="6667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8F"/>
          </a:solidFill>
          <a:ln xmlns:a="http://schemas.openxmlformats.org/drawingml/2006/main" w="9525">
            <a:solidFill>
              <a:srgbClr val="315F8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060DF0-2C2F-4DD4-9B6F-D3320F5EE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714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抵修規則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18DEE7-F457-4E1F-A98A-0FAB32735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124200" cy="3409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SIM 模組不可變成浪費學習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可納入必修目標或建立抵修／課程等同清單</a:t>
            </a:r>
          </a:p>
        </p:txBody>
      </p:sp>
    </p:spTree>
    <p:extLst>
      <p:ext uri="{BB962C8B-B14F-4D97-AF65-F5344CB8AC3E}">
        <p14:creationId xmlns:p14="http://schemas.microsoft.com/office/powerpoint/2010/main" val="121240340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9A0A99-350F-40EA-BB2B-1F685656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長庚大學與 SIM 合作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661613-09B3-4A08-A184-84D3F6E1B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Application Form 會把合作構想變成佐證文件工程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1A54F7-3605-424D-832A-89A1DBF30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FFCB88-2CD5-48BB-A7CC-9B5B0BF21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2C38E5-635F-4B6A-BF33-E28AB0C7F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113919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81F29F-AE01-49D4-83C8-91A5A7BFB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261DA4-6AE0-4BE4-B8B2-6BDF3C4CF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申請區塊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BB445A-BBC1-425E-8E5A-724F3AFA3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BE31C1-CF1C-4BDF-BA51-8609E582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長庚需完成事項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A70827-DC1E-4878-B28A-24C84E16F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D80284-96F8-4A53-80BE-4D3DA6B11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可能權責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8CF2BC-5BB8-4EE2-9E95-202832E6C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02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482310-7A4C-41BD-BD67-DD5EBC9D8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764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OTC 身分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508BE3-03FF-403A-96A8-4B07C491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8002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97939A-1262-4EB7-80F9-D615D3F0F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8764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法人名稱、註冊、教學場地、簽署權限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2948FB-13D9-4231-844A-A3C008B4E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8002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0241F4-541A-4759-B1A9-93B16EEA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8764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國際事務／法務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1B3AB4-9B94-4F6E-B2F5-D3E6D38B0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923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299607-1E55-4985-944C-D3C603671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685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現有課程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65A659-1C91-4B07-A5C0-905734787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24923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82249A-7369-445D-8426-A7B828948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25685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本地與國際課程、招生量、銜接路徑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57936C-8DCE-49AC-9886-B1E69B896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24923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D9617B-E36A-4EEC-BA9A-879618E5F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25685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學院／系所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4734A6-C7FB-40A3-8ABC-66D3CE2DD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45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F6E935-F6A1-492B-ACCB-D692EA8DC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607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授課計畫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F28A73-8726-49A7-84FE-DD922CE47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31845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E660A3-4913-4BA5-A886-9EE45C6B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2607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理由、目標學生、課表、考務、停辦應變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0BB5BF-799F-4558-A9E8-5C0AF759B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31845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B1CE92-151B-4385-BA8D-AF50BCE50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2607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學術與營運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006E637-9365-4D29-AE73-B48F6A4AE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766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E49DAA-058F-4B03-9532-A7EE6547B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528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師資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17D49C-8447-454E-AA0D-FC01EB525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38766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8F9DF79-6C97-4D9F-84F8-898D07516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9528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教師分配、CV、profile、證書、成績單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DCE078D-0C89-425E-97BF-0563CDA85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38766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9AB856F-ABB4-479E-977B-5737CA8C9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9528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師資盤點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62A90B-AB91-4CEF-943F-FC38C9ACC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688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990F882-5B24-417F-8A60-46D3DBCFA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6450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場地資源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0ED8402-2083-4A4D-9EB1-91AB67708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45688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56C7284-9767-415D-8904-161D2DE33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46450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教室、學習資源、學生支持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75E108B-16F2-4C4E-AFC1-E76FC3288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45688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E5D20BB-B9AC-401D-91C8-4F412AEB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6450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營運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C6D6937-935A-4920-A366-16A84EB3E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609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A0DF4EA-7533-4AAE-986A-1AAD95C1A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371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招生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1DD6CF9-78FB-4E98-9C05-B4610528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52609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E498671-C9A8-4DA2-ACED-0AE1AEC1E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53371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招生管道、諮詢、intake 預估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8D67221-5951-429A-9276-1F4D3CF45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52609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5A11FC1-B4D1-4D50-B9C6-CFD3965EB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53371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招生</a:t>
            </a:r>
          </a:p>
        </p:txBody>
      </p:sp>
    </p:spTree>
    <p:extLst>
      <p:ext uri="{BB962C8B-B14F-4D97-AF65-F5344CB8AC3E}">
        <p14:creationId xmlns:p14="http://schemas.microsoft.com/office/powerpoint/2010/main" val="205709712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DEC21A-55E8-448B-B59C-33A93B69B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長庚大學與 SIM 合作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EE02F4-3098-4BE8-A263-7F082BB51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SIM 限每位教師最多兩門，師資可能是第一個瓶頸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258DC4-6BDF-4B0E-91DE-A8C97CC40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5AA306-7EAF-4447-A1CB-7EEF62E62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B5473A-A4A6-4023-8101-7B3E1D264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108394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697EBD-D5D3-4703-8F48-30CF53B8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C37CF1-14B5-49B3-BAE2-2357252F2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57350"/>
            <a:ext cx="1055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核心判斷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418A5A-B82C-443C-831F-CC558849C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10534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6 門情境至少需 3 位合格英語授課教師；9 門情境至少需 5 位，且不得超過每師兩門。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322CC4-4AE3-43BB-9445-91A1A52E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0375"/>
            <a:ext cx="10287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713"/>
                </a:solidFill>
              </a:defRPr>
            </a:pPr>
            <a:r>
              <a:rPr sz="1500" b="0">
                <a:solidFill>
                  <a:srgbClr val="111713"/>
                </a:solidFill>
              </a:rPr>
              <a:t>• 教師 profile 需包含個資、國籍、模組分配、經驗、資格、英語能力、現職、證書與成績單。</a:t>
            </a:r>
          </a:p>
          <a:p xmlns:a="http://schemas.openxmlformats.org/drawingml/2006/main">
            <a:pPr algn="l">
              <a:defRPr sz="1500" b="0">
                <a:solidFill>
                  <a:srgbClr val="111713"/>
                </a:solidFill>
              </a:defRPr>
            </a:pPr>
            <a:r>
              <a:rPr sz="1500" b="0">
                <a:solidFill>
                  <a:srgbClr val="111713"/>
                </a:solidFill>
              </a:rPr>
              <a:t>• Information Systems for Business 與 Business Statistics 較貼近資管優勢。</a:t>
            </a:r>
          </a:p>
          <a:p xmlns:a="http://schemas.openxmlformats.org/drawingml/2006/main">
            <a:pPr algn="l">
              <a:defRPr sz="1500" b="0">
                <a:solidFill>
                  <a:srgbClr val="111713"/>
                </a:solidFill>
              </a:defRPr>
            </a:pPr>
            <a:r>
              <a:rPr sz="1500" b="0">
                <a:solidFill>
                  <a:srgbClr val="111713"/>
                </a:solidFill>
              </a:rPr>
              <a:t>• 會計、財金、行銷、人資、營運、法律、經濟需商管院更廣泛盤點。</a:t>
            </a:r>
          </a:p>
          <a:p xmlns:a="http://schemas.openxmlformats.org/drawingml/2006/main">
            <a:pPr algn="l">
              <a:defRPr sz="1500" b="0">
                <a:solidFill>
                  <a:srgbClr val="111713"/>
                </a:solidFill>
              </a:defRPr>
            </a:pPr>
            <a:r>
              <a:rPr sz="1500" b="0">
                <a:solidFill>
                  <a:srgbClr val="111713"/>
                </a:solidFill>
              </a:rPr>
              <a:t>• 資料不完整可能導致 SIM 審查無法進行。</a:t>
            </a:r>
          </a:p>
        </p:txBody>
      </p:sp>
    </p:spTree>
    <p:extLst>
      <p:ext uri="{BB962C8B-B14F-4D97-AF65-F5344CB8AC3E}">
        <p14:creationId xmlns:p14="http://schemas.microsoft.com/office/powerpoint/2010/main" val="121818008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88465D0-64A7-433A-AE89-ED7CC8AC2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長庚大學與 SIM 合作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C30CF4-9D62-4256-B3D3-139122406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推動小組需要可負責的工作流，不只是會議參與者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D5CF8E-2B77-428B-8843-C8D98616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DC2630-6E39-4931-907E-D6C8AA13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AEE020-9B45-4662-ACA0-99E3EED1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113919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900ABA-B700-4FF3-B4BF-EE0AA569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3B3F8C-7BF1-4D94-920C-677F6876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工作流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4C750C-83AC-4A90-839B-81A0DBF2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5FCECD-809E-40F2-9129-BB1B9DA4D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負責人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99454E-2762-478B-A9A3-2250CB61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691031-F3FC-4583-B3B2-045A0384C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第一項產出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F2F3D0-613E-44F2-A124-D212B60A7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0225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D2456A-DA4C-496E-B188-5AF30D110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76425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專案督導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5F230A-ADD4-45C1-9C8E-A6FE32136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800225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683095-4FDC-43AE-996E-D80EC711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876425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專案督導或指定主管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C3D489-1EF1-44FC-A50F-395C1542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800225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45A4FC-CD02-4919-B266-185C89AE5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876425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授權與決策紀錄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B9FF79-3194-4E7D-A038-C58250A7A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19338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6CC892-F2CF-4706-938E-BE3505369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395538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課程銜接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51121-631C-4E97-A869-7430205B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2319338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086410-E02C-4443-AD20-293972474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2395538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學院／系所負責人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9913BB-56A9-48E5-8E4D-5B47A7F2C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2319338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77CB8B-CC6F-4074-88DF-53CFA5036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2395538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DMS mapping 與 6/9 建議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6E9026-9143-4CC4-90C7-238097B3D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38450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90C161-3AD3-4E29-AE12-C23A33011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914650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教務處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180788-1DAB-43D0-B17F-1965B66C8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2838450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A48F12-9CDB-4B58-844A-A2DDC2FC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2914650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教務處窗口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FB339C-4662-48A3-85A7-E11C10C6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2838450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1A1907-170E-490B-80FA-1D2C37142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2914650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學分、抵修、學籍、學位規則 memo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B7F6B32-4CED-4FD1-8EDA-8235F159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57563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83DBE83-1C6F-4724-8E47-E5A9F03E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33763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法務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0F621B8-0AF1-450A-96CE-0045232F3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3357563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A53BD85-7978-494F-A5DC-6EC68F53F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433763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法務窗口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A425FF-DA86-44F5-9443-68CC60EB4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3357563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0F80527-DD52-421A-9213-CBB97430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433763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NDA 與宣傳限制審閱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0355594-1B2B-4743-82C6-1C68C1402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76675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012523A-2444-4A96-A009-BA85DE1E6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52875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SIM 聯繫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95CC124-127D-4F63-B9ED-CD40854A7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3876675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97D62C5-F4A4-41A5-BC0E-2C31C2950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952875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國際事務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AE21B1A-0E0E-4CF0-921D-BCF7FBE7E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3876675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66975DB-07F7-45C1-B7C1-FA5D94164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952875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待釐清事項與文件往返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FB051FA-CE28-4ADF-925D-F712281DD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95788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A8E4CD-E5D7-4FDD-A416-FAE48FF90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71988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營運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4128566-A743-4BC9-B357-23C1751B4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4395788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8176241-B468-45CF-B591-F05448EB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4471988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營運負責人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A9CD84F-9D4A-4D7C-94DD-850C8B37A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4395788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7DBA6C5-FF6F-47C7-BBB0-3E772D0D9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471988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課表、場地、考務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0C27293-B8BA-4826-A04F-C016F8117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14900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E28F165-EEBE-461D-A6DA-E4DE96CB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991100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招生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5E37F6B-F0B9-4FF5-9413-E60F53CF4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4914900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CD1CAD9-4FD7-4C2C-AFD4-2D07C788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4991100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招生／諮詢負責人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07AE706-1F05-4D7E-A5F1-6FDAA2BA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4914900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C075C0D-1F00-4BE3-88F5-5D8B6B72E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991100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合規諮詢模型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C6F64D8-917E-4E16-8BF1-0BDDB6CD7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34013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8AD0272-D46C-46A9-89AC-22A2EA3D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10213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財務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FBA8500-D650-4A3E-B172-3D76473E1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5434013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B626D8E-6CAF-4092-A21E-3F64BB8E3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5510213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商業模式負責人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0BB5129-DC49-4C9E-B142-166C310F6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5434013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7060489-FB22-40A7-8996-89D679025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5510213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附件後費用模型</a:t>
            </a:r>
          </a:p>
        </p:txBody>
      </p:sp>
    </p:spTree>
    <p:extLst>
      <p:ext uri="{BB962C8B-B14F-4D97-AF65-F5344CB8AC3E}">
        <p14:creationId xmlns:p14="http://schemas.microsoft.com/office/powerpoint/2010/main" val="17820939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B4698E-4DE5-481C-BF67-E1D5BD7E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長庚大學與 SIM 合作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4788A3-5376-4D31-A04B-57303FB9B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實際路線應依階段與核准關卡推進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27B632-8587-4497-8781-A43101DF4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AAF726-A41F-4E4E-8436-DE9FF37B0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B463BB-DC62-4F79-AA9E-2701FB2BF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BB8048-77E9-4F5B-9FA2-344B948EE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04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80419F-D1DB-4415-81CA-51D422E25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14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校內對齊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C68DEF-3E56-4FBA-8365-76A1B9D50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562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推動小組、法務審閱、教務處請示、教育部招生路徑評估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070619-4701-4AB5-846E-A6ECF6076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812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27DB2-E4E7-49DA-802D-E2455783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8F"/>
          </a:solidFill>
          <a:ln xmlns:a="http://schemas.openxmlformats.org/drawingml/2006/main" w="9525">
            <a:solidFill>
              <a:srgbClr val="315F8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89A6A1-D5C6-439C-82F6-AD7D263A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66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B9212A-7F89-42F9-87B3-A33840B5C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76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釐清階段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A1757E-6B5B-49A6-8F91-9C8D48A9E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24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若核准則簽 NDA、審閱 Annex、向 SIM 釐清、草擬獨立招生概念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A38DC0-FF01-4476-A1AE-63F547448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3882A8-CCC9-4467-A932-BBA8775E3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81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50F71A-0F40-40FF-9FFD-15A271065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28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4E3168-5F26-4B5B-A40C-3A1F6121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038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佐證建置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FFFF2E-FD56-4801-B0F7-D5DBF494B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86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OTC 申請包、師資 profile、課程 mapping、招生理由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96881C-119C-4655-91DC-4DDDF75D4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052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CB3F5E-1C55-49D3-99AD-87A366246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8F"/>
          </a:solidFill>
          <a:ln xmlns:a="http://schemas.openxmlformats.org/drawingml/2006/main" w="9525">
            <a:solidFill>
              <a:srgbClr val="315F8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FDB210-B9EA-4B2F-9DC3-464A2ED18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90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62788C-AD3F-4765-8079-58F80C57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00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外部審查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6B46A0-A7D3-49F4-BB0C-B4D55FEA9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848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SIM 審查與 audit，加上教育部招生申請與補件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A2A048-2FF8-4A7A-A79C-9416288E3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672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933C70-2754-4FC2-85FE-B61B83537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05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1DCF36-D3FD-4C57-A905-EEF9B2A4F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52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081FE3-A974-41A9-8848-F71CB4F34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62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雙核准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5AC713-2A8F-4322-A8D7-FAACFD03B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10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正式合約與核准版招生諮詢條件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D08EEA-B71D-4BEF-B86D-79D62572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292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F7FC3F-85A9-4819-BF6D-0734EA7F1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8F"/>
          </a:solidFill>
          <a:ln xmlns:a="http://schemas.openxmlformats.org/drawingml/2006/main" w="9525">
            <a:solidFill>
              <a:srgbClr val="315F8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AF2128E-470E-4A42-96F0-68C6B0ED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14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B96CE92-B647-4ED8-BDB6-CAF640BCE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24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開辦準備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54927AD-54AF-4CB3-8EF2-6D630B717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372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營運、首屆授課、認證與年度 review</a:t>
            </a:r>
          </a:p>
        </p:txBody>
      </p:sp>
    </p:spTree>
    <p:extLst>
      <p:ext uri="{BB962C8B-B14F-4D97-AF65-F5344CB8AC3E}">
        <p14:creationId xmlns:p14="http://schemas.microsoft.com/office/powerpoint/2010/main" val="163571027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27103D-8393-4466-85EC-5B6273C9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長庚大學與 SIM 合作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95DE0A-8574-46EF-A1B3-4B926833D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風險登錄顯示本案應採階段性可行性評估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6A0C7E-80A4-4022-B0F8-2BE1389B3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1CB5E6-FFD7-48AE-8082-1CB44C2F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946DBB-FAA7-4DEC-9D49-45CD01DEB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11391900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FFA637-1AFB-4781-A8A3-19DDD203E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0A686F-5A7D-4207-AB7E-4702B978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等級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94F9AE-69AB-4E9D-99B3-7D2FE734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77A69B-9564-49C4-9295-3AD6FA554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風險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7764A7-2BCB-4EBD-8638-5094AC83A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BF74D9-B35B-41AD-A1A6-3DC78FF8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因應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907913-A9CA-4711-95F5-8241AC4F9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0225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D8B7FF-F767-4706-8D2E-4DD98C7F0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76425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A52930-8C39-454A-94D2-F5C2D68D1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800225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7C5277-DD0E-4252-A8EC-F5E11D1E9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876425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教育部可能不核准 CGU-SIM cohort 獨立招生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B21A07-2A8E-45F0-9763-8A9C9956C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800225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375015-4743-4471-B16B-9701F4C7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876425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將教育部核准視為與 SIM 核准同等的 go/no-go 關卡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6188A1-4386-41D4-BD2D-373315223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68563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CF0A3F-853B-4D4D-B2FB-95AF24753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44763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FF9C61-B083-4BDF-A93A-A4E35E226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2468563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082BA2-94E7-4533-8CBB-C5D95AEEA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2544763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長庚／台灣規則可能不支援簡單雙學位敘事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725C72-F34C-4EC7-B9D4-99A3085A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2468563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12AB32-00E8-4C4B-8BBB-AE2009435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2544763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長庚學位先定位為選配，待教務處確認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117B83-0F2C-432D-A709-9C52C35C8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36900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C720CC-70C0-49A3-8AAD-98361717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13100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高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85B65D-22EE-4425-91BD-B2050237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3136900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C54CBC-4F06-4336-A5D3-B69AAC100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213100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赴新加坡階段學籍未定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709B01-2819-4239-9DC1-431BEE5DC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3136900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70FC35-1FBB-445C-B162-8759C502F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213100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建立休學／退學／回流決策樹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550661-1AB7-4D7B-AF3A-3464A4A7C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05238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725E9FB-AFF8-41FA-9244-D1DF36FC0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881438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高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99796D8-5EBC-41A1-8224-5A979E79C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3805238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4A45A3A-C7F2-4D26-8813-997536E1B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881438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6-9 門課師資可能不足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EF5EA50-D42A-4F4C-A387-E6C6EB7E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3805238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21417E-2D98-4ED4-94B2-137ED6CBD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881438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範圍決策前先盤點英語授課師資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F4D4600-4AC5-44A8-85C8-8C88D3167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73575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823E296-2EBE-499D-AF38-180A6F68F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549775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高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5DBA281-BE5D-4A66-9DD3-06BC61E87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4473575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9933E04-60FA-4024-9751-9D302BAF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4549775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NDA 不得宣傳限制招生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C37FEAC-1247-4744-B83A-48042FEB1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4473575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C7D662D-1DE8-4923-A7D4-9DE59688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549775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無法務與 SIM 書面同意前不對外宣稱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BB5F0CE-C5BE-43F9-837B-3370AA901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1913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E2B468B-BAA7-40FF-9D83-AF02F6FF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218113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中高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D585768-588B-4FE6-8E05-1AB17D3DE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5141913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7BE829B-264F-4048-B9EF-5F3E86DD1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5218113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SIM 同步時程可能無法對齊長庚學期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2382C78-E951-454A-895A-9154F020F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5141913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1C6C5A-4E2B-4CAE-AA5C-94703CE9D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5218113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以 SIM cycle 回推長庚課表</a:t>
            </a:r>
          </a:p>
        </p:txBody>
      </p:sp>
    </p:spTree>
    <p:extLst>
      <p:ext uri="{BB962C8B-B14F-4D97-AF65-F5344CB8AC3E}">
        <p14:creationId xmlns:p14="http://schemas.microsoft.com/office/powerpoint/2010/main" val="113675707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0CA468-96C2-4927-92CC-23C8960D9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長庚大學與 SIM 合作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33F48E-A66C-44E5-8F20-34E535572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待釐清事項需分派給招生、教務、法務與 SIM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106BC0-7F81-40AD-AA4B-662D40105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AED875-D142-495B-B73A-5A955FBCA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EAF23F-D1F0-4F25-9AD3-22F0191AB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81150"/>
            <a:ext cx="3429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BF07B3-9B2A-4715-BA09-84039707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81150"/>
            <a:ext cx="6667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6B48D8-E2A9-4C66-912A-E7E548F60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招生／教育部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10554B-1E4C-4957-9F11-78AA9BF71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76450"/>
            <a:ext cx="3124200" cy="3409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獨立招生核准路徑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學費與名額處理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學籍與銜接揭露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不核准時停損方案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F617C5-5D73-4B76-B10C-9B1A4C03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81150"/>
            <a:ext cx="3429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BA5468-A31C-4B85-B1DE-4D4A74F4B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81150"/>
            <a:ext cx="6667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6B32"/>
          </a:solidFill>
          <a:ln xmlns:a="http://schemas.openxmlformats.org/drawingml/2006/main" w="9525">
            <a:solidFill>
              <a:srgbClr val="B26B3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37C0FA-E20C-4AA0-AC3F-7502867BE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714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教務處／法務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A4BB25-162A-47EE-9FC0-CDF82E494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76450"/>
            <a:ext cx="3124200" cy="3409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學分／時間／在校規則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赴 SIM 後學籍處理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新加坡法與專屬管轄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宣傳限制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89771B-02E4-4452-933E-E256AF73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581150"/>
            <a:ext cx="3429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15730E-5CF7-4FCC-9596-D871F2E51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581150"/>
            <a:ext cx="6667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8F"/>
          </a:solidFill>
          <a:ln xmlns:a="http://schemas.openxmlformats.org/drawingml/2006/main" w="9525">
            <a:solidFill>
              <a:srgbClr val="315F8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377E75-9065-43FB-8726-973CCBFEB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714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SIM／Jessy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2273C9-0E19-4860-AD2A-8A90F50A5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124200" cy="3409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DMS 序列與 6/9 門模組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精確授課分工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線上時程彈性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考務、費用、班級門檻</a:t>
            </a:r>
          </a:p>
        </p:txBody>
      </p:sp>
    </p:spTree>
    <p:extLst>
      <p:ext uri="{BB962C8B-B14F-4D97-AF65-F5344CB8AC3E}">
        <p14:creationId xmlns:p14="http://schemas.microsoft.com/office/powerpoint/2010/main" val="5638662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747C03-14A9-48F2-A807-1CC8A91D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長庚大學與 SIM 合作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F5F63B-480C-4BBF-B5CE-92864EED0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下一步決策應開啟查證授權，而非直接承諾合作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CE60CB-F50E-486F-8249-D6A91F694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BDF330-279D-467C-A36B-74893C7E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9F1A26-159D-4E1B-AB63-E15745E2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108394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6CC42D-0AFD-4F71-B934-F4D80F7AF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3AB8E6-1DCF-4433-809C-E651E1A32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57350"/>
            <a:ext cx="1055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核心判斷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685C63-F988-4610-B6C0-67839BCB1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10534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建議結論：進入結構化可行性與申請準備階段，不對外宣稱已啟動合作招生。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961F04-7A94-499A-8477-5A0DCDCA9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0375"/>
            <a:ext cx="10287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713"/>
                </a:solidFill>
              </a:defRPr>
            </a:pPr>
            <a:r>
              <a:rPr sz="1500" b="0">
                <a:solidFill>
                  <a:srgbClr val="111713"/>
                </a:solidFill>
              </a:rPr>
              <a:t>• 以 DMS 為初始標的，比較 6 門與 9 門模式。</a:t>
            </a:r>
          </a:p>
          <a:p xmlns:a="http://schemas.openxmlformats.org/drawingml/2006/main">
            <a:pPr algn="l">
              <a:defRPr sz="1500" b="0">
                <a:solidFill>
                  <a:srgbClr val="111713"/>
                </a:solidFill>
              </a:defRPr>
            </a:pPr>
            <a:r>
              <a:rPr sz="1500" b="0">
                <a:solidFill>
                  <a:srgbClr val="111713"/>
                </a:solidFill>
              </a:rPr>
              <a:t>• 長庚學位回流路徑列為第二階段設計。</a:t>
            </a:r>
          </a:p>
          <a:p xmlns:a="http://schemas.openxmlformats.org/drawingml/2006/main">
            <a:pPr algn="l">
              <a:defRPr sz="1500" b="0">
                <a:solidFill>
                  <a:srgbClr val="111713"/>
                </a:solidFill>
              </a:defRPr>
            </a:pPr>
            <a:r>
              <a:rPr sz="1500" b="0">
                <a:solidFill>
                  <a:srgbClr val="111713"/>
                </a:solidFill>
              </a:rPr>
              <a:t>• NDA 須經法務審閱與授權簽署人核准後再簽。</a:t>
            </a:r>
          </a:p>
          <a:p xmlns:a="http://schemas.openxmlformats.org/drawingml/2006/main">
            <a:pPr algn="l">
              <a:defRPr sz="1500" b="0">
                <a:solidFill>
                  <a:srgbClr val="111713"/>
                </a:solidFill>
              </a:defRPr>
            </a:pPr>
            <a:r>
              <a:rPr sz="1500" b="0">
                <a:solidFill>
                  <a:srgbClr val="111713"/>
                </a:solidFill>
              </a:rPr>
              <a:t>• 將 SIM 審查與教育部招生核准視為交織的雙申請。</a:t>
            </a:r>
          </a:p>
        </p:txBody>
      </p:sp>
    </p:spTree>
    <p:extLst>
      <p:ext uri="{BB962C8B-B14F-4D97-AF65-F5344CB8AC3E}">
        <p14:creationId xmlns:p14="http://schemas.microsoft.com/office/powerpoint/2010/main" val="144463159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A3EB36-E53B-41CE-B227-62440D5D6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長庚大學與 SIM 合作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000C9E-0BC4-4E71-87F6-3B2D1FC7B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立即行動項目應有權責，但不強塞週期邊界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90E385-613D-49D9-8187-C343423EB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FDCCD7-55A7-4419-8467-8A565C72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8FAC80-FBD3-4A04-8E2E-50EF309CF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113919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167C3A-CF29-4B79-89C7-3BEAB130F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F53FF7-4FD2-41B9-982D-A4BB3219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行動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C3DF57-19A1-48EC-93E9-CE84CB51A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BE3511-C33F-4000-9F41-9B22B717E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權責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942B50-996B-4361-BD33-EF2FCD8F3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0A0698-76C1-4F84-BCC2-301A1C2C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階段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A0F61A-19DA-4848-ACBA-7BC6388CE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02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595E8B-8DE3-4687-8616-A857FF65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764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指定專案督導與工作流負責人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A52E0D-0F23-41D4-B326-7B1182F6F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8002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22B59E-3E69-4DBC-A92F-C093593BE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8764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專案督導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E5137D-7E96-45D2-B807-2E4FCCB43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8002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3C02F0-97E8-4E36-B051-88464BABB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8764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啟動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B43EA7-73CE-4E50-9469-A4F91AC9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923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964082-117A-4076-B7AB-025194DDA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685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確認教育部獨立招生路徑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EDF385-E8AD-4C03-898B-736FEB581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24923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EF0345-53CF-4819-9CCF-0B531B5E5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25685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招生／教務處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8533E8-0121-450C-AE3C-617CE0F61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24923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23CDA2-22A2-4377-BAFE-9B79552A0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25685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政策定義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881630-E9AB-472C-8412-0A5417E59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45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195B30-08E1-4BA1-B743-87379D90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607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啟動 NDA 法務審閱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1A726E-775D-4AA1-99AB-748FDBE97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31845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5594D3-4B3B-421B-9465-785F3DC3F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2607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法務／國際事務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05B69A-98DD-46B4-8EAF-662DB9458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31845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DE71E5-8C4B-4DC9-91D4-B0495EB4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2607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法務關卡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E18DC6-C7C0-47D5-9130-DAB24F09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766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1906FF-E269-4131-A020-B93AC0A3A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528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請教務處提出規則 memo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455A50-554A-4727-829E-7CCC62D15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38766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E4A65C5-629E-45A6-ADFD-E44365FFD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9528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教務處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2AC8C21-FDC2-400C-A3D5-2EFE3B8A5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38766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F2901E9-53B9-47F5-94C6-C404BCFCF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9528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教務規則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9360E19-B21E-4C57-997F-C62B4A269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688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7C51001-81F8-464A-A4A8-2E54C6EC0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6450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建立師資準備矩陣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66E9C35-BD9E-4E0F-B348-6A7565230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45688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55F9A2D-F909-4522-A619-77E8FBB8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46450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師資盤點負責人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AFB3A98-E0DF-4F1C-A2BF-0B01B1B64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45688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CEF1F14-05C9-445F-9D89-ADACC105F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6450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佐證建置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83CCBE6-E195-405D-8BC2-CEF4DD45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609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7BF95A1-D96D-4164-B013-C790A7F7C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371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起草 SIM 待釐清清單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3D790BB-91B3-4A17-AEC7-488352023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52609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B72E4F3-E2B7-442E-9222-DEAB59CC3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53371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SIM 聯繫窗口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382C01E-B183-4732-87EF-E607DA51D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52609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930400E-928B-4589-B807-3ECDEBD89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53371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釐清階段</a:t>
            </a:r>
          </a:p>
        </p:txBody>
      </p:sp>
    </p:spTree>
    <p:extLst>
      <p:ext uri="{BB962C8B-B14F-4D97-AF65-F5344CB8AC3E}">
        <p14:creationId xmlns:p14="http://schemas.microsoft.com/office/powerpoint/2010/main" val="145358592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D74302-15E1-4B6C-95C3-FDF38A9A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長庚大學與 SIM 合作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7ABED5-3F95-4AB3-B662-B10A90762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附錄：主要主張之來源註記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6FD5DB-65A1-4258-A054-77E2B16FA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21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554EC7-3E2C-4DB0-8868-C7668D147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157FC2-3C8F-48E7-B785-B4BCE2AB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113919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32E39C-63B6-4E1B-A6B9-02923B0E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222621-3697-4944-BDE3-FE8DD4A93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主張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4D1E7C-C62E-449A-AD20-26E822EA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CB7458-39EA-461F-8810-A79761A72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來源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CB245B-A16E-4CE0-B9BD-3DB431E92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DF85A2-9F5B-4491-A1AC-1694EF6C9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狀態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87A44E-DA3A-485B-8885-6C3198CB2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0225"/>
            <a:ext cx="3797300" cy="5932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ECD49D-C58B-46AA-814B-88D13D03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76425"/>
            <a:ext cx="3663950" cy="498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長庚招生 + SIM 加發 offer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2BDEC0-D45B-47BA-BF16-F4827FE2B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800225"/>
            <a:ext cx="3797300" cy="5932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4BA39E-E0B4-4301-B376-D11E22DFB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876425"/>
            <a:ext cx="3663950" cy="498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2026 年 6 月 9 日會談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26505A-3179-4E53-846D-4ED1F42B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800225"/>
            <a:ext cx="3797300" cy="5932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BEF551-828C-4251-B67F-B4D9C436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876425"/>
            <a:ext cx="3663950" cy="498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會談確認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6AA491-DF46-4871-A4D6-74F015FCD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93496"/>
            <a:ext cx="3797300" cy="5932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CC2A54-7060-458D-8739-10B8A3B3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469696"/>
            <a:ext cx="3663950" cy="498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招生規定須報教育部核定後實施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E81EEE-8EA1-4836-85AD-3549B95EE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2393496"/>
            <a:ext cx="3797300" cy="5932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3A2A3A-2BD9-4A8D-AF66-4F85B1A0C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2469696"/>
            <a:ext cx="3663950" cy="498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大學法第 24 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5277D1-4242-4E33-B575-2C1C5971A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2393496"/>
            <a:ext cx="3797300" cy="5932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CEC651-1DF0-4A11-BE2F-529797864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2469696"/>
            <a:ext cx="3663950" cy="498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法規確認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97DFA1-CAB4-4E04-A95B-C432895A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86768"/>
            <a:ext cx="3797300" cy="5932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15301E-2CF2-4B71-B134-00988871A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62968"/>
            <a:ext cx="3663950" cy="498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OTC 申請、稽核、180 日內簽約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526FBA-40AB-41EC-89DD-53FE2B6A6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2986768"/>
            <a:ext cx="3797300" cy="5932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B47627-46F7-4424-ABAA-31E7306DB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062968"/>
            <a:ext cx="3663950" cy="498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OTC Guide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A2B35B-DB98-4B60-8F75-635149AEF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2986768"/>
            <a:ext cx="3797300" cy="5932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904264-04AF-4980-BB73-561ADB2A6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062968"/>
            <a:ext cx="3663950" cy="498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SIM 文件確認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0235846-29CF-4219-B87D-7F50F857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80039"/>
            <a:ext cx="3797300" cy="5932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8A6625-53B0-4920-B983-227ACB5C9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56239"/>
            <a:ext cx="3663950" cy="498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DMS 15 門課／630 學時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65678FC-8397-42B1-AF89-1D24C670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3580039"/>
            <a:ext cx="3797300" cy="5932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2A9D840-F9EB-4172-99EF-6AA04A3B7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656239"/>
            <a:ext cx="3663950" cy="498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DMS Course Info PDF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7687C8A-5485-4824-BA73-FF46938CA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3580039"/>
            <a:ext cx="3797300" cy="5932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F97C81-384A-4535-8563-606CF70CA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656239"/>
            <a:ext cx="3663950" cy="498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SIM 文件確認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E841D5B-02A9-4CC5-A3E9-9B1A791FB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73311"/>
            <a:ext cx="3797300" cy="5932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B91CC59-4B87-4524-8CD2-0BBC0A1A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249511"/>
            <a:ext cx="3663950" cy="498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DMS 6/9 門選項與 blended hours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E1AF6C6-99B0-42EB-8BC3-229A05F0B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4173311"/>
            <a:ext cx="3797300" cy="5932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8829725-6E2B-4D2F-9667-496581FB3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4249511"/>
            <a:ext cx="3663950" cy="498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Application Form Appendix 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CE328EA-0B4B-472F-8585-144F24D6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4173311"/>
            <a:ext cx="3797300" cy="5932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AB88E5B-DB46-44D3-8DD0-CCAEEF748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249511"/>
            <a:ext cx="3663950" cy="498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SIM 文件確認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4210035-45DC-4CB8-8EA2-85293636D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6582"/>
            <a:ext cx="3797300" cy="5932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36C6B4F-EE90-4596-8533-6ABD2A6BD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842782"/>
            <a:ext cx="3663950" cy="498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每位教師最多兩門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03CD94A-A7ED-4976-BFDB-EF02FCBD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4766582"/>
            <a:ext cx="3797300" cy="5932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85640CC-F684-4D32-BEBF-2C7C0BF7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4842782"/>
            <a:ext cx="3663950" cy="498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Teaching Profile xlsx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FE199EA-2A26-486C-9488-EFD0E43F1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4766582"/>
            <a:ext cx="3797300" cy="5932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3510B97-0D7E-4F6B-9316-C3D799DC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842782"/>
            <a:ext cx="3663950" cy="498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SIM 文件確認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CD27145-8001-4C8F-BFF6-024EAD9A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59854"/>
            <a:ext cx="3797300" cy="5932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A706765-2563-4511-8131-BB35DA8E4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436054"/>
            <a:ext cx="3663950" cy="498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任一核准失敗即阻斷開辦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65010CA-7C3D-405F-AA1B-B6E8C30C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5359854"/>
            <a:ext cx="3797300" cy="5932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3908143-29A8-488C-982A-C65524B5C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5436054"/>
            <a:ext cx="3663950" cy="498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OTC Guide 與大學法綜整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553DD48-5567-4339-A939-A931870C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5359854"/>
            <a:ext cx="3797300" cy="5932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5EEC4EF-5E8C-4F8A-B4A1-CCF0DC467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5436054"/>
            <a:ext cx="3663950" cy="498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簡報結論</a:t>
            </a:r>
          </a:p>
        </p:txBody>
      </p:sp>
    </p:spTree>
    <p:extLst>
      <p:ext uri="{BB962C8B-B14F-4D97-AF65-F5344CB8AC3E}">
        <p14:creationId xmlns:p14="http://schemas.microsoft.com/office/powerpoint/2010/main" val="16299913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2026-07-10T20:10:01.8780000Z</dcterms:created>
  <dcterms:modified xsi:type="dcterms:W3CDTF">2026-07-10T20:10:01.8780000Z</dcterms:modified>
</coreProperties>
</file>