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3684dfeb24a6e" /><Relationship Type="http://schemas.openxmlformats.org/officeDocument/2006/relationships/extended-properties" Target="/docProps/app.xml" Id="R2dd217828f7f416d" /><Relationship Type="http://schemas.openxmlformats.org/officeDocument/2006/relationships/officeDocument" Target="/ppt/presentation.xml" Id="R3aaa4bc0382346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d43fe59f846ba"/>
  </p:sldMasterIdLst>
  <p:notesMasterIdLst>
    <p:notesMasterId xmlns:r="http://schemas.openxmlformats.org/officeDocument/2006/relationships" r:id="R9418b7a8b7fc450d"/>
  </p:notesMasterIdLst>
  <p:sldIdLst>
    <p:sldId xmlns:r="http://schemas.openxmlformats.org/officeDocument/2006/relationships" id="256" r:id="R940fbb2b87e74dd6"/>
    <p:sldId xmlns:r="http://schemas.openxmlformats.org/officeDocument/2006/relationships" id="257" r:id="Rfe19637e21f24ed7"/>
    <p:sldId xmlns:r="http://schemas.openxmlformats.org/officeDocument/2006/relationships" id="258" r:id="R5e1a0dfd048e43d4"/>
    <p:sldId xmlns:r="http://schemas.openxmlformats.org/officeDocument/2006/relationships" id="259" r:id="Rec93738ada8e4aa2"/>
    <p:sldId xmlns:r="http://schemas.openxmlformats.org/officeDocument/2006/relationships" id="260" r:id="Ra08384f1d99f470b"/>
    <p:sldId xmlns:r="http://schemas.openxmlformats.org/officeDocument/2006/relationships" id="261" r:id="R35d1e25425e440e0"/>
    <p:sldId xmlns:r="http://schemas.openxmlformats.org/officeDocument/2006/relationships" id="262" r:id="R77fbd10743cc4eae"/>
    <p:sldId xmlns:r="http://schemas.openxmlformats.org/officeDocument/2006/relationships" id="263" r:id="R1b0724f5084645da"/>
    <p:sldId xmlns:r="http://schemas.openxmlformats.org/officeDocument/2006/relationships" id="264" r:id="Rb2debec8527a4945"/>
    <p:sldId xmlns:r="http://schemas.openxmlformats.org/officeDocument/2006/relationships" id="265" r:id="R4dd3c477dc0f468b"/>
    <p:sldId xmlns:r="http://schemas.openxmlformats.org/officeDocument/2006/relationships" id="266" r:id="R4473a27494714240"/>
    <p:sldId xmlns:r="http://schemas.openxmlformats.org/officeDocument/2006/relationships" id="267" r:id="Reb9b66e9fccc4526"/>
    <p:sldId xmlns:r="http://schemas.openxmlformats.org/officeDocument/2006/relationships" id="268" r:id="R6fb2c98748d24479"/>
    <p:sldId xmlns:r="http://schemas.openxmlformats.org/officeDocument/2006/relationships" id="269" r:id="R4ee54a85d3904ba8"/>
    <p:sldId xmlns:r="http://schemas.openxmlformats.org/officeDocument/2006/relationships" id="270" r:id="R9b993d877b474907"/>
    <p:sldId xmlns:r="http://schemas.openxmlformats.org/officeDocument/2006/relationships" id="271" r:id="R4ed9b175d4c64431"/>
    <p:sldId xmlns:r="http://schemas.openxmlformats.org/officeDocument/2006/relationships" id="272" r:id="R4814d217db0c4946"/>
    <p:sldId xmlns:r="http://schemas.openxmlformats.org/officeDocument/2006/relationships" id="273" r:id="R3ee59e4f54414501"/>
    <p:sldId xmlns:r="http://schemas.openxmlformats.org/officeDocument/2006/relationships" id="274" r:id="R6df6414cb9ce4594"/>
    <p:sldId xmlns:r="http://schemas.openxmlformats.org/officeDocument/2006/relationships" id="275" r:id="R76655d38e0be495c"/>
    <p:sldId xmlns:r="http://schemas.openxmlformats.org/officeDocument/2006/relationships" id="276" r:id="Rdcdd2d54b7624b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70f52f934f44fc" /><Relationship Type="http://schemas.openxmlformats.org/officeDocument/2006/relationships/slideMaster" Target="/ppt/slideMasters/slideMaster1.xml" Id="Ra45d43fe59f846ba" /><Relationship Type="http://schemas.openxmlformats.org/officeDocument/2006/relationships/notesMaster" Target="/ppt/notesMasters/notesMaster1.xml" Id="R9418b7a8b7fc450d" /><Relationship Type="http://schemas.openxmlformats.org/officeDocument/2006/relationships/presProps" Target="/ppt/presProps.xml" Id="Rf6a82910d6f544bc" /><Relationship Type="http://schemas.openxmlformats.org/officeDocument/2006/relationships/tableStyles" Target="/ppt/tableStyles.xml" Id="Rf8d4734c33d0479a" /><Relationship Type="http://schemas.openxmlformats.org/officeDocument/2006/relationships/slide" Target="/ppt/slides/slide1.xml" Id="R940fbb2b87e74dd6" /><Relationship Type="http://schemas.openxmlformats.org/officeDocument/2006/relationships/slide" Target="/ppt/slides/slide2.xml" Id="Rfe19637e21f24ed7" /><Relationship Type="http://schemas.openxmlformats.org/officeDocument/2006/relationships/slide" Target="/ppt/slides/slide3.xml" Id="R5e1a0dfd048e43d4" /><Relationship Type="http://schemas.openxmlformats.org/officeDocument/2006/relationships/slide" Target="/ppt/slides/slide4.xml" Id="Rec93738ada8e4aa2" /><Relationship Type="http://schemas.openxmlformats.org/officeDocument/2006/relationships/slide" Target="/ppt/slides/slide5.xml" Id="Ra08384f1d99f470b" /><Relationship Type="http://schemas.openxmlformats.org/officeDocument/2006/relationships/slide" Target="/ppt/slides/slide6.xml" Id="R35d1e25425e440e0" /><Relationship Type="http://schemas.openxmlformats.org/officeDocument/2006/relationships/slide" Target="/ppt/slides/slide7.xml" Id="R77fbd10743cc4eae" /><Relationship Type="http://schemas.openxmlformats.org/officeDocument/2006/relationships/slide" Target="/ppt/slides/slide8.xml" Id="R1b0724f5084645da" /><Relationship Type="http://schemas.openxmlformats.org/officeDocument/2006/relationships/slide" Target="/ppt/slides/slide9.xml" Id="Rb2debec8527a4945" /><Relationship Type="http://schemas.openxmlformats.org/officeDocument/2006/relationships/slide" Target="/ppt/slides/slide10.xml" Id="R4dd3c477dc0f468b" /><Relationship Type="http://schemas.openxmlformats.org/officeDocument/2006/relationships/slide" Target="/ppt/slides/slide11.xml" Id="R4473a27494714240" /><Relationship Type="http://schemas.openxmlformats.org/officeDocument/2006/relationships/slide" Target="/ppt/slides/slide12.xml" Id="Reb9b66e9fccc4526" /><Relationship Type="http://schemas.openxmlformats.org/officeDocument/2006/relationships/slide" Target="/ppt/slides/slide13.xml" Id="R6fb2c98748d24479" /><Relationship Type="http://schemas.openxmlformats.org/officeDocument/2006/relationships/slide" Target="/ppt/slides/slide14.xml" Id="R4ee54a85d3904ba8" /><Relationship Type="http://schemas.openxmlformats.org/officeDocument/2006/relationships/slide" Target="/ppt/slides/slide15.xml" Id="R9b993d877b474907" /><Relationship Type="http://schemas.openxmlformats.org/officeDocument/2006/relationships/slide" Target="/ppt/slides/slide16.xml" Id="R4ed9b175d4c64431" /><Relationship Type="http://schemas.openxmlformats.org/officeDocument/2006/relationships/slide" Target="/ppt/slides/slide17.xml" Id="R4814d217db0c4946" /><Relationship Type="http://schemas.openxmlformats.org/officeDocument/2006/relationships/slide" Target="/ppt/slides/slide18.xml" Id="R3ee59e4f54414501" /><Relationship Type="http://schemas.openxmlformats.org/officeDocument/2006/relationships/slide" Target="/ppt/slides/slide19.xml" Id="R6df6414cb9ce4594" /><Relationship Type="http://schemas.openxmlformats.org/officeDocument/2006/relationships/slide" Target="/ppt/slides/slide20.xml" Id="R76655d38e0be495c" /><Relationship Type="http://schemas.openxmlformats.org/officeDocument/2006/relationships/slide" Target="/ppt/slides/slide21.xml" Id="Rdcdd2d54b7624b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d7d754930641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4bb8c254ae4661" /><Relationship Type="http://schemas.openxmlformats.org/officeDocument/2006/relationships/notesMaster" Target="/ppt/notesMasters/notesMaster1.xml" Id="R23dcedec67fa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ff60b7993b42a1" /><Relationship Type="http://schemas.openxmlformats.org/officeDocument/2006/relationships/notesMaster" Target="/ppt/notesMasters/notesMaster1.xml" Id="R3c215b0bf48949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7b70545b364012" /><Relationship Type="http://schemas.openxmlformats.org/officeDocument/2006/relationships/notesMaster" Target="/ppt/notesMasters/notesMaster1.xml" Id="Rd8a3cfd1df564d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cbf2cb4d79428b" /><Relationship Type="http://schemas.openxmlformats.org/officeDocument/2006/relationships/notesMaster" Target="/ppt/notesMasters/notesMaster1.xml" Id="R04284eabb2c548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5c9486c6d54577" /><Relationship Type="http://schemas.openxmlformats.org/officeDocument/2006/relationships/notesMaster" Target="/ppt/notesMasters/notesMaster1.xml" Id="R934e2ba5851148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248692408c4ad1" /><Relationship Type="http://schemas.openxmlformats.org/officeDocument/2006/relationships/notesMaster" Target="/ppt/notesMasters/notesMaster1.xml" Id="R4979bbb09cdb45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278f4257044bc6" /><Relationship Type="http://schemas.openxmlformats.org/officeDocument/2006/relationships/notesMaster" Target="/ppt/notesMasters/notesMaster1.xml" Id="R495fdc8136f54f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cae6cba563455d" /><Relationship Type="http://schemas.openxmlformats.org/officeDocument/2006/relationships/notesMaster" Target="/ppt/notesMasters/notesMaster1.xml" Id="Rbf482eabbe1c48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24226ca0144b97" /><Relationship Type="http://schemas.openxmlformats.org/officeDocument/2006/relationships/notesMaster" Target="/ppt/notesMasters/notesMaster1.xml" Id="R6cddc1a511f24b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ef22b2599a446f" /><Relationship Type="http://schemas.openxmlformats.org/officeDocument/2006/relationships/notesMaster" Target="/ppt/notesMasters/notesMaster1.xml" Id="R220800880c7745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071ffd8c1248ac" /><Relationship Type="http://schemas.openxmlformats.org/officeDocument/2006/relationships/notesMaster" Target="/ppt/notesMasters/notesMaster1.xml" Id="Rdf8e40026bfe42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a3694612e94d3c" /><Relationship Type="http://schemas.openxmlformats.org/officeDocument/2006/relationships/notesMaster" Target="/ppt/notesMasters/notesMaster1.xml" Id="R3ee634cd294148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b1df5e087744f3" /><Relationship Type="http://schemas.openxmlformats.org/officeDocument/2006/relationships/notesMaster" Target="/ppt/notesMasters/notesMaster1.xml" Id="R2ebcb02841254c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bcd9358f3c4875" /><Relationship Type="http://schemas.openxmlformats.org/officeDocument/2006/relationships/notesMaster" Target="/ppt/notesMasters/notesMaster1.xml" Id="Rb82ff9b272e242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3db77628c74823" /><Relationship Type="http://schemas.openxmlformats.org/officeDocument/2006/relationships/notesMaster" Target="/ppt/notesMasters/notesMaster1.xml" Id="Rb0b86bf0a55c46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265f6c8d25471d" /><Relationship Type="http://schemas.openxmlformats.org/officeDocument/2006/relationships/notesMaster" Target="/ppt/notesMasters/notesMaster1.xml" Id="R679be4ad48424d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98cace3ab24c74" /><Relationship Type="http://schemas.openxmlformats.org/officeDocument/2006/relationships/notesMaster" Target="/ppt/notesMasters/notesMaster1.xml" Id="R28065d8102b44e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e5483a44fa4bec" /><Relationship Type="http://schemas.openxmlformats.org/officeDocument/2006/relationships/notesMaster" Target="/ppt/notesMasters/notesMaster1.xml" Id="R0cc161146ad547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f63410bd88423f" /><Relationship Type="http://schemas.openxmlformats.org/officeDocument/2006/relationships/notesMaster" Target="/ppt/notesMasters/notesMaster1.xml" Id="Rfcc41ccaca164e4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7f2311aaef447df" /><Relationship Type="http://schemas.openxmlformats.org/officeDocument/2006/relationships/notesMaster" Target="/ppt/notesMasters/notesMaster1.xml" Id="R39569788ecc34c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0d85df43284b41" /><Relationship Type="http://schemas.openxmlformats.org/officeDocument/2006/relationships/notesMaster" Target="/ppt/notesMasters/notesMaster1.xml" Id="R298d723366b949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a3b88e28c4a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614d59044e49f2" /><Relationship Type="http://schemas.openxmlformats.org/officeDocument/2006/relationships/slideLayout" Target="/ppt/slideLayouts/slideLayout1.xml" Id="R3a40e755561c4d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40e755561c4d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e4cfffced4c15" /><Relationship Type="http://schemas.openxmlformats.org/officeDocument/2006/relationships/hyperlink" Target="https://cgu-sim-chatbot.cguaacsb.chatgpt.site" TargetMode="External" Id="R639e10d1977842a1" /><Relationship Type="http://schemas.openxmlformats.org/officeDocument/2006/relationships/notesSlide" Target="/ppt/notesSlides/notesSlide1.xml" Id="R7de4a07e02614b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6b4b753d44922" /><Relationship Type="http://schemas.openxmlformats.org/officeDocument/2006/relationships/hyperlink" Target="https://cgu-sim-chatbot.cguaacsb.chatgpt.site" TargetMode="External" Id="Rf978c23f5c8e4264" /><Relationship Type="http://schemas.openxmlformats.org/officeDocument/2006/relationships/notesSlide" Target="/ppt/notesSlides/notesSlide2.xml" Id="Reccc58fd400e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4a8611ca54882" /><Relationship Type="http://schemas.openxmlformats.org/officeDocument/2006/relationships/hyperlink" Target="https://cgu-sim-chatbot.cguaacsb.chatgpt.site" TargetMode="External" Id="R398733407e2f46bd" /><Relationship Type="http://schemas.openxmlformats.org/officeDocument/2006/relationships/notesSlide" Target="/ppt/notesSlides/notesSlide3.xml" Id="Rcf030f83bbcb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a0bcda3e745bc" /><Relationship Type="http://schemas.openxmlformats.org/officeDocument/2006/relationships/hyperlink" Target="https://cgu-sim-chatbot.cguaacsb.chatgpt.site" TargetMode="External" Id="R2fa3c0902db446bd" /><Relationship Type="http://schemas.openxmlformats.org/officeDocument/2006/relationships/notesSlide" Target="/ppt/notesSlides/notesSlide4.xml" Id="R5c94c14d1c4f49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70901ff974eae" /><Relationship Type="http://schemas.openxmlformats.org/officeDocument/2006/relationships/hyperlink" Target="https://cgu-sim-chatbot.cguaacsb.chatgpt.site" TargetMode="External" Id="Rd9e17d4b9ed8421e" /><Relationship Type="http://schemas.openxmlformats.org/officeDocument/2006/relationships/notesSlide" Target="/ppt/notesSlides/notesSlide5.xml" Id="Rc1ac1fcd65d54a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5cc65f4f34114" /><Relationship Type="http://schemas.openxmlformats.org/officeDocument/2006/relationships/hyperlink" Target="https://cgu-sim-chatbot.cguaacsb.chatgpt.site" TargetMode="External" Id="R7432681c05824973" /><Relationship Type="http://schemas.openxmlformats.org/officeDocument/2006/relationships/notesSlide" Target="/ppt/notesSlides/notesSlide6.xml" Id="Rf94ac6f4f5fc48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29481db9c426b" /><Relationship Type="http://schemas.openxmlformats.org/officeDocument/2006/relationships/hyperlink" Target="https://cgu-sim-chatbot.cguaacsb.chatgpt.site" TargetMode="External" Id="Raeff1e1f24b647dc" /><Relationship Type="http://schemas.openxmlformats.org/officeDocument/2006/relationships/notesSlide" Target="/ppt/notesSlides/notesSlide7.xml" Id="Rb02d0fd8346849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df2748d114015" /><Relationship Type="http://schemas.openxmlformats.org/officeDocument/2006/relationships/hyperlink" Target="https://cgu-sim-chatbot.cguaacsb.chatgpt.site" TargetMode="External" Id="R86165a48173c41a0" /><Relationship Type="http://schemas.openxmlformats.org/officeDocument/2006/relationships/notesSlide" Target="/ppt/notesSlides/notesSlide8.xml" Id="Rf953f9bef14f47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54e62a3e8449c" /><Relationship Type="http://schemas.openxmlformats.org/officeDocument/2006/relationships/hyperlink" Target="https://cgu-sim-chatbot.cguaacsb.chatgpt.site" TargetMode="External" Id="Rb4622acc6c8c47c3" /><Relationship Type="http://schemas.openxmlformats.org/officeDocument/2006/relationships/notesSlide" Target="/ppt/notesSlides/notesSlide9.xml" Id="Ref504ccbe54d4d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0783c21464870" /><Relationship Type="http://schemas.openxmlformats.org/officeDocument/2006/relationships/hyperlink" Target="https://cgu-sim-chatbot.cguaacsb.chatgpt.site" TargetMode="External" Id="R3ac405f93b6d4f5a" /><Relationship Type="http://schemas.openxmlformats.org/officeDocument/2006/relationships/notesSlide" Target="/ppt/notesSlides/notesSlide10.xml" Id="R5f1abb9ef9af47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e5c83e8cd46e4" /><Relationship Type="http://schemas.openxmlformats.org/officeDocument/2006/relationships/hyperlink" Target="https://cgu-sim-chatbot.cguaacsb.chatgpt.site" TargetMode="External" Id="R7bc150d737314db1" /><Relationship Type="http://schemas.openxmlformats.org/officeDocument/2006/relationships/notesSlide" Target="/ppt/notesSlides/notesSlide11.xml" Id="R7860a6d5c9c14f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939d4802d4837" /><Relationship Type="http://schemas.openxmlformats.org/officeDocument/2006/relationships/hyperlink" Target="https://cgu-sim-chatbot.cguaacsb.chatgpt.site" TargetMode="External" Id="R39fd6e7e3e224390" /><Relationship Type="http://schemas.openxmlformats.org/officeDocument/2006/relationships/notesSlide" Target="/ppt/notesSlides/notesSlide12.xml" Id="Rd8820272fd6642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4d72c50fe49e0" /><Relationship Type="http://schemas.openxmlformats.org/officeDocument/2006/relationships/hyperlink" Target="https://cgu-sim-chatbot.cguaacsb.chatgpt.site" TargetMode="External" Id="R5bc7bbba2d1c4649" /><Relationship Type="http://schemas.openxmlformats.org/officeDocument/2006/relationships/notesSlide" Target="/ppt/notesSlides/notesSlide13.xml" Id="Rfa335ce3869043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bdbfe365b454f" /><Relationship Type="http://schemas.openxmlformats.org/officeDocument/2006/relationships/hyperlink" Target="https://cgu-sim-chatbot.cguaacsb.chatgpt.site" TargetMode="External" Id="R51e9b99119f44a45" /><Relationship Type="http://schemas.openxmlformats.org/officeDocument/2006/relationships/notesSlide" Target="/ppt/notesSlides/notesSlide14.xml" Id="R8f1b5b255f5640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7b7f69ac84a6c" /><Relationship Type="http://schemas.openxmlformats.org/officeDocument/2006/relationships/hyperlink" Target="https://cgu-sim-chatbot.cguaacsb.chatgpt.site" TargetMode="External" Id="R6b47e0768b334021" /><Relationship Type="http://schemas.openxmlformats.org/officeDocument/2006/relationships/notesSlide" Target="/ppt/notesSlides/notesSlide15.xml" Id="Rc8f97094de834c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ce3c7e7ae4137" /><Relationship Type="http://schemas.openxmlformats.org/officeDocument/2006/relationships/hyperlink" Target="https://cgu-sim-chatbot.cguaacsb.chatgpt.site" TargetMode="External" Id="R7096f936f0e14a4c" /><Relationship Type="http://schemas.openxmlformats.org/officeDocument/2006/relationships/notesSlide" Target="/ppt/notesSlides/notesSlide16.xml" Id="Rf074bb97d4594c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612858b2945b5" /><Relationship Type="http://schemas.openxmlformats.org/officeDocument/2006/relationships/hyperlink" Target="https://cgu-sim-chatbot.cguaacsb.chatgpt.site" TargetMode="External" Id="Rf22eca388c024a14" /><Relationship Type="http://schemas.openxmlformats.org/officeDocument/2006/relationships/notesSlide" Target="/ppt/notesSlides/notesSlide17.xml" Id="R54cd750cd77645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c5ccb67cc4f72" /><Relationship Type="http://schemas.openxmlformats.org/officeDocument/2006/relationships/hyperlink" Target="https://cgu-sim-chatbot.cguaacsb.chatgpt.site" TargetMode="External" Id="R69a06911df3a4bf1" /><Relationship Type="http://schemas.openxmlformats.org/officeDocument/2006/relationships/notesSlide" Target="/ppt/notesSlides/notesSlide18.xml" Id="Raaeeb31b72274c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539195ccd4d7d" /><Relationship Type="http://schemas.openxmlformats.org/officeDocument/2006/relationships/hyperlink" Target="https://cgu-sim-chatbot.cguaacsb.chatgpt.site" TargetMode="External" Id="R55546bfbddb24a59" /><Relationship Type="http://schemas.openxmlformats.org/officeDocument/2006/relationships/notesSlide" Target="/ppt/notesSlides/notesSlide19.xml" Id="Rb2da8b72db784a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d658a0e094dbd" /><Relationship Type="http://schemas.openxmlformats.org/officeDocument/2006/relationships/hyperlink" Target="https://cgu-sim-chatbot.cguaacsb.chatgpt.site" TargetMode="External" Id="Rdb51de12c23d43d1" /><Relationship Type="http://schemas.openxmlformats.org/officeDocument/2006/relationships/notesSlide" Target="/ppt/notesSlides/notesSlide20.xml" Id="Rb2508c8e71cf4d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0d8016b824e2a" /><Relationship Type="http://schemas.openxmlformats.org/officeDocument/2006/relationships/hyperlink" Target="https://cgu-sim-chatbot.cguaacsb.chatgpt.site" TargetMode="External" Id="Rd746bcd93d584ecc" /><Relationship Type="http://schemas.openxmlformats.org/officeDocument/2006/relationships/notesSlide" Target="/ppt/notesSlides/notesSlide21.xml" Id="Re1f90ca5f09549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1C3416-2DA0-4391-9A95-7B85D6D4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CGU-SIM 合作簡報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DF75C-2466-468F-9CC2-63259B11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00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8CD21-D9D7-4836-A1C9-1654C58E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67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639e10d1977842a1"/>
              </a:rPr>
              <a:t>開啟問答助手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5C767-8468-44D8-B7FC-C136817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85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713"/>
                </a:solidFill>
              </a:defRPr>
            </a:pPr>
            <a:r>
              <a:rPr sz="3600" b="1">
                <a:solidFill>
                  <a:srgbClr val="111713"/>
                </a:solidFill>
              </a:rPr>
              <a:t>長庚大學與 SIM 合作簡報：海外教學中心申請與學生銜接路徑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AF7C2-6A2D-46DC-8D54-616BDCEC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45D57"/>
                </a:solidFill>
              </a:defRPr>
            </a:pPr>
            <a:r>
              <a:rPr sz="1800" b="0">
                <a:solidFill>
                  <a:srgbClr val="545D57"/>
                </a:solidFill>
              </a:rPr>
              <a:t>階段性可行性與雙核准準備方案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2354E-E884-4707-AAF1-858260A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7245F-D1E7-48EA-A604-8508898E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4EE63-11BE-4B6D-8A5A-FAF63B16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SIM OTC 審查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9558B-D9E1-492A-913A-155C86C2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C06C9-D320-4279-B7D1-39AD0A7E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5300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5A17C-34A3-419B-BC05-1615D14D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53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ACA0B-1CFB-489D-B46A-7A83E181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教育部核准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F2D2D-57DF-47A7-B9BD-2A3BBCC6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483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FDC71-C069-4CCE-AC41-2A24D5AE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53000"/>
            <a:ext cx="2324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F1E20-49E2-4C77-A495-6399711F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53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46FF3-8906-454A-A82A-1130DB1A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86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核准後再談路徑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3C90A-953C-4D2B-9423-2A7B97D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483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783CA-6098-4407-B151-C1F41FC6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45D57"/>
                </a:solidFill>
              </a:defRPr>
            </a:pPr>
            <a:r>
              <a:rPr sz="975" b="0">
                <a:solidFill>
                  <a:srgbClr val="545D57"/>
                </a:solidFill>
              </a:rPr>
              <a:t>供長庚大學教學與行政主管研議使用</a:t>
            </a:r>
          </a:p>
        </p:txBody>
      </p:sp>
    </p:spTree>
    <p:extLst>
      <p:ext uri="{BB962C8B-B14F-4D97-AF65-F5344CB8AC3E}">
        <p14:creationId xmlns:p14="http://schemas.microsoft.com/office/powerpoint/2010/main" val="1475372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B09229-F9BD-45C0-A14C-454A6C13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6F90E-3D5F-4067-B703-14DC13D1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本次建議核准可行性衝刺，不是公開招生啟動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34B82-D409-4150-8EB0-6A519DA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882EE-8BF4-42FC-838D-D13DEE37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f978c23f5c8e4264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1B0EE-7C4B-4D64-BD5C-E51CBE0C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BEB83-21BC-498E-8C34-95BD9C74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0F45B-C9B2-4829-8503-88233009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AD0DB-7FB6-4650-BF41-BA2F3733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70B15-9A5A-4884-B1E3-CD8547BE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建議核准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824A3-A4E0-4E4E-8E6F-3A28CB7D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成立 CGU-SIM 推動小組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NDA 法務審閱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教育部招生核准路徑評估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6/9 門師資盤點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9D596-5D93-4D12-9FDF-F668F841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85B7B-43B1-4966-A94F-482A71D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11A6F-9FDB-47E3-A363-5240A4D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暫緩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AA143-916A-497F-B3DF-E06A406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公開招生文宣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雙聯學位承諾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附件前決定最終範圍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雙核准前招募學生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470CC-8AC3-41D5-8F59-5390642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71AAD-E88E-46FA-BCB2-B8CEA759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5B6CA-4EB5-4218-87CE-8F0B9AC4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交辦查證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28468-34D8-428E-AECE-7FA8811E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SIM 課程序列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教育部獨立招生路徑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授課分工與課表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費用分潤與班級門檻</a:t>
            </a:r>
          </a:p>
        </p:txBody>
      </p:sp>
    </p:spTree>
    <p:extLst>
      <p:ext uri="{BB962C8B-B14F-4D97-AF65-F5344CB8AC3E}">
        <p14:creationId xmlns:p14="http://schemas.microsoft.com/office/powerpoint/2010/main" val="1116319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5F75F9-9086-48FF-9877-50589566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AC53C-0DE3-4341-8C5A-613CD39A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本案實質內容是 OTC 基礎加上受規範的招生路徑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03BEC-64AB-4780-8B88-CC20725F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E22C5-6E5D-4C39-85B8-B8548D0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398733407e2f46bd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8FA9D-FDA7-459F-A8DE-AFC38827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DA3E7-7D5B-4423-92DD-DFBD92F4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FDF3B-D8B9-4AFF-B182-41B32D75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48FEB-2B96-4A0D-BD87-6DA5F922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7799A-71B2-488C-B811-DF8AF4DB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基礎層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C987B-2388-4239-AD97-EFECF93F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552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長庚申請成為 SIM Overseas Teaching Centre，在台灣依 SIM 品質規範開授 SIM 文憑模組。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SIM 文件確認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053FC-F4BE-411A-A704-EFB5F4D6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20E99-74C1-4FB4-A2ED-11BFD42A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DF972-3D99-4AD5-BFE2-6486432C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43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法規層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99CED-90A1-4BBF-9A56-5357E4CA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05050"/>
            <a:ext cx="4552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若長庚平行學測／分科路徑招收不同學費 cohort，獨立招生需取得台灣教育部核准。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大學法第 24 條確認；細節待釐清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40D4A-D86F-425B-AB82-4AB30580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76575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11171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62F45-56CE-4A8F-A0F6-03CAD588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713"/>
                </a:solidFill>
              </a:defRPr>
            </a:pPr>
            <a:r>
              <a:rPr sz="2700" b="1">
                <a:solidFill>
                  <a:srgbClr val="111713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727469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806533-0139-45DE-87E2-8545999D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85600-DBEF-47CF-A5FC-6DCA96C2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對長庚的策略意義是招生品質與安全轉銜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6C54A-D040-464D-B93D-A557CC16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D7D69-96C3-496D-A21E-643D7D1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2fa3c0902db446bd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DD25B-13C6-4CC5-8D5C-FBF758E7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DB1F9-E9B7-4D01-B7AC-15017B6B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BB371-09E1-4846-86ED-EC1F5F6D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3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C5175-9E2B-479E-B497-C00A381B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C5309-4562-489F-8CC4-A6D5A2B6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核心判斷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BC1FE-B693-414B-968E-B60615D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053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本案不是單純補足名額，而是吸引希望走海外學位路徑、但希望先在台灣起步的較強學生。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8B89E-BD02-4FE4-B465-FB873F6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家長可能偏好先在台灣確認適應能力，再赴新加坡。</a:t>
            </a:r>
          </a:p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SIM 觀察到台灣大一休學赴海外者常浪費第一年學習。</a:t>
            </a:r>
          </a:p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若長庚課程本身為 SIM 認可模組，可降低學習浪費。</a:t>
            </a:r>
          </a:p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保留率與長庚學位仍重要，但在規則確認前應列為次要指標。</a:t>
            </a:r>
          </a:p>
        </p:txBody>
      </p:sp>
    </p:spTree>
    <p:extLst>
      <p:ext uri="{BB962C8B-B14F-4D97-AF65-F5344CB8AC3E}">
        <p14:creationId xmlns:p14="http://schemas.microsoft.com/office/powerpoint/2010/main" val="1518043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76CC1-589A-4F35-95E7-CF2255BB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EDBF4-B582-40CB-BA3C-B6E4BB48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兩個外部核准共同決定學生路徑能否啟動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C8C88-C240-4599-8AB0-700A5F71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67829-165B-4761-9DD6-79563494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d9e17d4b9ed8421e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9CD28-CD15-4C2F-8D87-12E64C7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CCAF0-2ECA-4F8A-B8E5-531E6238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66F43-2483-4CA9-A813-791C0AFD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6C97A-CF5E-4C7D-8A3D-9854F44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BA9A4-CBFD-45B0-B94C-8BA6804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關卡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419B6-E4EE-47D3-B5FA-373D09FF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B7F6E-22A8-4467-9B52-3EED055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為何重要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5324B-7FF9-416B-B2DD-C6537FBC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8AE90-43BB-40EC-B5EF-11BF7CC5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對方案設計的意涵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63AD7-5BB9-454E-8576-C4550B62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3E9DF-D296-478F-94C8-B80B6588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SIM OTC 核准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BA4F0-FE6D-48C5-966F-D27EA693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BEDFC-580A-41DD-AF9E-0E226BBA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長庚需取得 SIM 同意，才能依 SIM 品質規範開授 DMS 模組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9044D-63D4-4972-9AEA-FBB2AC3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B31EC-83AC-4D0D-9AFA-F2E2DA7F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未取得 OTC 核准，就沒有 SIM 認可的教學中心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3DADC-47E5-4264-9A26-85F424F5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45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330C8-7AD6-4800-B28B-9E6D29A1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07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台灣教育部招生核准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66176-6F2F-4A96-8C1F-D352C158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1845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21BF6-2ECB-4D1C-87DF-486860D7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2607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大學法第 24 條要求招生規定報教育部核定後實施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1DDF6-212E-479A-BE9D-FB85EC7E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1845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6FFDA-2378-4C0F-97AB-01E7B806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2607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未取得教育部核准，就不能啟動平行學測／分科的 CGU-SIM 招生模式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5292F-6C68-40FD-B8A6-1C6D2058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88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697F3B-DA8F-4F10-A65A-D8BA3DD3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50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共同開辦決策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FEC04-429D-414A-A648-3E650E96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5688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F4DB2-49BF-4D1C-BD79-36799F8A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6450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招生、學費、學籍與赴 SIM 銜接是同一個學生面對的承諾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527B4-EF0F-4C84-8D6B-83F11435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568825"/>
            <a:ext cx="3797300" cy="138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969E4F-4332-4EEB-AFD8-FBA1FE4C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645025"/>
            <a:ext cx="3663950" cy="128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未雙核准前，不應對外招生</a:t>
            </a:r>
          </a:p>
        </p:txBody>
      </p:sp>
    </p:spTree>
    <p:extLst>
      <p:ext uri="{BB962C8B-B14F-4D97-AF65-F5344CB8AC3E}">
        <p14:creationId xmlns:p14="http://schemas.microsoft.com/office/powerpoint/2010/main" val="873440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352B9-8F12-4AB4-BCB5-B80F815D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7A0F8-048A-44D6-AA4D-16037A61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SIM 五份文件共同定義合作結構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D423E-9300-4728-A8D6-405DD98B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5563F-8F98-4A28-AC5A-13951815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7432681c05824973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254E5-7098-48F2-B6E1-B34CDF9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A41B7-0414-4D0E-8ADF-B0ACD4F4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947AD-01A1-425F-BE97-254CCCD5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6E309-D6D4-4C53-A2F8-D0016F83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F9924-3BE0-422D-A4DA-009F59E0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SIM 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BB43A-D1AB-4FED-9820-D91359EC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A9731-4B87-4695-9C95-DBA69E08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結構功能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FD922-4E7F-4BCE-A26D-0C47DF7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9BA39-D2FE-40DF-AFE3-2534A240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對方案設計的影響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EC377-172C-42E2-BAFB-37CBF29E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D1966-C367-48CE-AF39-EA46B455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OTC Application Guide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01463-85F9-4FDA-ABEC-D348D86C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82BD9-9CC8-47B8-B78F-F8F47EF0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定義申請、稽核、師資審查、簽約、認證與年度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6CA62-28C1-40FB-99D1-763CDD6C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517E3-A891-4A3E-84A9-E85AFD81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先把 OTC 視為基礎層，再談學生路徑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BA98B-E174-4E37-BDBE-C0718725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28077-2CC3-4CF8-AE5D-2F02CF9D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Application 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2C4C7-382A-479B-9893-63FF2240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D3DED-3A96-458B-A5A9-B39CC81A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定義場地、授課、師資、考務、支持、招生與 intake 佐證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4050A-B000-4628-9A97-FB61E7FC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ACAE8-2FC2-4AE5-8A87-05D505F5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把合作構想轉成跨單位申請佐證工程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28507-1FDE-4A0D-BBC2-84086CBE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8246A-08AB-4464-87C2-0A9A3FD4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NDA Template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EC2ECC-4502-46C8-A8F4-B0827175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D470A-0A61-4E3C-A1D1-363CB847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控制附件取得、資訊使用、不得公開宣傳、PDPA、新加坡法與管轄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A238B5-9BB2-4A7E-AF6D-AE981D1D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EBC9F3-4984-417E-9F9F-378F1FF6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法務審閱是第一關，也限制招生文宣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A35E06-C847-421C-83DC-A9B03DA3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F24634-4A75-4C4E-9654-A36BFD3B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Teaching Profile 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033FB1-390F-4DD5-8C0F-DA022304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C36722-3605-42D3-B21B-48F7AD05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控制授課教師資格、模組分配與證書成績單佐證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908D17-A3A8-413E-BBDF-6A07DF1F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35EABD-DEAD-4C61-A1ED-BB9E6FFA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形成 6/9 門師資瓶頸與英語授課檢核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9911A6-A529-493F-B29C-F37F1921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4627CB-8C6C-431B-B053-E9FE3B34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DMS Course Info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BB6CFD-A183-4FE3-B657-A35D4DB5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3D27E7-25A4-4B1D-A175-714C3C1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定義 15 個月、15 門課、每門 42 學時、總計 630 學時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46E16C-9B0C-4B1F-B5C5-2875EC7C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20E65D-EC23-40DF-994C-9CF8917F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提供學分抵認與銜接路徑設計的課程基礎</a:t>
            </a:r>
          </a:p>
        </p:txBody>
      </p:sp>
    </p:spTree>
    <p:extLst>
      <p:ext uri="{BB962C8B-B14F-4D97-AF65-F5344CB8AC3E}">
        <p14:creationId xmlns:p14="http://schemas.microsoft.com/office/powerpoint/2010/main" val="1549822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77B16F-316E-4B61-BE2A-DB335A24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29923-E62F-4746-B219-98DB8901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五份文件也定義需要測試的教學模式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B33A2-E57C-4967-900F-0D3C6F32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88312-6D6A-43AA-BFD9-7408A1AA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aeff1e1f24b647dc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A0390-E021-40BB-9259-8A0B114C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02DCE-3200-4C31-88E8-99E1AF13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F95D7-6E3C-4C45-8F47-88580DB1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E263C-41ED-4FD0-BD0A-0F74FC4F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8327E-9EAE-4FF0-82DD-3E655D87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教學元素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85730-2114-4AEB-94F4-D908AE0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9E05A-7A95-4226-8540-4E6931D9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文件訊號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67346-9D9E-48AF-A242-9AD8E58D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94C29-880E-4493-AFBB-33589B1A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後續設計意涵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594BD-EA2F-4A06-831E-2AB9A88B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54B34-0990-4949-AD7A-0E44D17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課程主幹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474D3-A266-4AA8-A727-345D1EEA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ED7A3-F756-44D0-8F0B-7F4E6FD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DMS Course Info 固定 15 門課與溝通、數量、經濟、法律、IT、財會、人資、營運等學習目標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C248F-0CA6-4A09-A41E-F105A676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9E0F2-1930-483D-971B-EF7E26A9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以 learning outcome 做銜接，不只比對課名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4F4F0-3D67-44C9-B1EC-E7DC9B72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8F7D2-33B6-4518-9CA8-3A74D9A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混成授課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93148-BE04-448B-9C17-7CDF29BD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6A9EC-3732-4931-AE68-438E089A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Application Form Appendix A 列出 SIM 與 OTC 依課型分擔接觸學時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F5C8C-0B25-42F3-A263-46F3C9C5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63080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154A81-6FF9-4B77-8291-9B6AEC91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70700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需校準 6 月 9 日會談中的 50/50 說法與正式 appendix／Annex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AAE453-3DCD-44B5-B930-1094C01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FDE4BC-9FCC-4190-B915-115700D8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師資資格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66470F-FBD0-4B36-9AC9-7EB1523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051AF-0265-4CDC-B3AC-A0C8ABD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Teaching Profile Form 要求模組、經驗、資格、英語能力、證書與成績單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412C37-8FF3-4CB9-BE46-BBE789AE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46138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B2950C-2FE3-4F30-A9EB-732287B5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53758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先建立師資準備矩陣，再決定 6 或 9 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65AD12-EAC4-4DDF-B3B4-DA5FD2A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A0A034-8D80-4B00-B3C9-16C37DE3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評量控制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84B516-681C-408F-9282-08923587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270833-D8A1-4810-AE7C-F6938597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Application Form 與 6 月 9 日會談顯示考試在長庚、試題由 SIM 來，批改流程待釐清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478783-B702-43B3-88C4-42D6A415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29196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92E402-EC51-423A-A141-8EC15EA8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36816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需確認試題保管、監考、批改、試卷送回與成績登錄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358384-51F1-46A1-BCEB-829A8882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1BF819-67DC-405C-9E2A-FCD5C6EE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品質保證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1C3CF8-9EF2-4EEA-8B19-7BE4B31C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B79D4-9420-4BF4-AAC0-4B5504E8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OTC Guide 要求審查、audit、首屆後認證與年度 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32C002-A9DA-467E-B6DF-05CD59A2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122545"/>
            <a:ext cx="37973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DAF4E0-D864-4FC8-B375-10CC86FB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98745"/>
            <a:ext cx="3663950" cy="735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應作為可被稽核的教學中心，而非單純招生路徑</a:t>
            </a:r>
          </a:p>
        </p:txBody>
      </p:sp>
    </p:spTree>
    <p:extLst>
      <p:ext uri="{BB962C8B-B14F-4D97-AF65-F5344CB8AC3E}">
        <p14:creationId xmlns:p14="http://schemas.microsoft.com/office/powerpoint/2010/main" val="264895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83CB6-F604-43B3-8392-56898787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E76A6-6FBC-4F65-BCCE-B1CAB366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學生路徑構想有已確認步驟，也有政策缺口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33709-AB78-43B3-9F9C-BCDA866F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51F39-9AF3-4FDF-9731-4C2E7299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86165a48173c41a0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48B4B-712E-465F-BD6E-2A5DB957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4D9DD-448D-4551-BCF2-0426C04E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5FFA3-DA8F-4A07-B4C3-57AE48D9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A74CF-1631-4622-A9E7-FD81676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58F5F-1094-4DFD-876A-65162AC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1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長庚招生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2BDD9-7AF8-403B-AC79-D81440D0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平行於學測／分科既有管道之 distinct cohort；需教育部核准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B57E6-0F19-4F99-B9AF-5A7EEFC7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7384F-3E85-4407-95DF-ED5E4FAE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331D9-F193-4E86-9214-39E02EA6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6A5E4-71C6-44A9-B87C-33064158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SIM offer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DE7C8-2286-4A94-A171-1A489BDC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SIM 另發 offer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43FB2-DF4C-4188-8360-3E8D0C2E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50387-1EFA-4CEA-B3CF-F88308F3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C92B5-EAB3-4438-8985-24D4A253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815BB-CF8A-43AA-99EB-C814965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長庚開授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217B8-AA61-4B86-B1D7-BEF9B530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長庚開授 6-9 門 DMS 模組並搭配 SIM 線上部分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12F2E-861A-4641-AE47-B5003A39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F5BA2-43E8-4559-BCA9-19D9DCF2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7D3E3-3442-4C19-AFD0-EB570DE8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53FD0-7303-400C-97F9-0DA1B5C7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赴 SIM 新加坡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3E960-3E83-44D4-8EED-E341A1F1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可轉為 SIM 學生；長庚學籍待釐清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CD8D1C-676B-46F7-A7EC-71959402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1BDED-056A-40E2-9B84-11D4B531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A3A3F-6734-49BD-AA97-E9488CFF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CC780D-2288-46CB-B9A7-2FC16409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選配回流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664CDD-C180-402F-BFE1-C74F99FD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若要長庚學位，再回長庚補足學分／時間</a:t>
            </a:r>
          </a:p>
        </p:txBody>
      </p:sp>
    </p:spTree>
    <p:extLst>
      <p:ext uri="{BB962C8B-B14F-4D97-AF65-F5344CB8AC3E}">
        <p14:creationId xmlns:p14="http://schemas.microsoft.com/office/powerpoint/2010/main" val="1247452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89B7C1-471E-46EC-82A1-68638EEE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A9CF0-8C67-40EB-B7DF-E44DDE0E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SIM OTC 申請流程形成清楚的制度關卡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48C5B-D2CF-4D22-B588-4577DADB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052B7-1694-4B17-A7E0-FAD9CC9E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b4622acc6c8c47c3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B8D61-FC18-4335-AD66-3288B427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38026-768C-417F-B812-9AF79246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444AD-3E7C-4A02-A112-AC0115A9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9BD60-63F0-46CB-9E9E-5852A6CB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6981B-87FB-4FDA-B420-AAFE0A14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1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送件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56F29-7C58-4537-BBEA-552BC817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完整 Application Form 與佐證文件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917FC-76EF-438B-8BFB-8FD1D5DB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FB89F-748F-4831-B21B-A4C43781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0C837-C149-4EB2-AD11-3FCB4C14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5F6A6-81B2-4326-876E-CB4E93E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SIM 審查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8571D-E485-4988-B60A-8C7C5D86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完整性審查與補件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F96A1-4EA6-4C3B-A838-5AD37931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2A8B1-7E54-487B-8B44-1878E04F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D1943-E60A-45DA-AE92-7453A8EB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F2C72-3387-4D86-9DC3-BB96D6F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稽核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66EB5-56D2-4BED-AFB9-F7428854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SIM 指派人員 onsite audit；費用可能由申請方負擔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302F8-594C-4CB1-BD18-CB7C39C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52C8C-8498-470D-8E30-07075AB2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384D1-BF51-49FD-B094-58751BC5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E3E57-B905-47B8-A304-7FC6A31F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師資審查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72B29B-8BC9-49B5-8E94-D2542DDB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Academic Staff Profile 線上審查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A6BA6-D0DD-4890-AB35-0450A897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03CCF-6079-42D0-9C39-7EA5AF24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11581-50B1-4AF2-A69D-CB86BB9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4127C-B310-4D04-9D0E-1670427A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核准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A6D419-A179-4913-B9E2-2EEF4E5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SIM 最終決定；核准後 180 日內簽約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DC0B0C-99D5-4316-A3FA-9A9FC05B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92CBF9-EFD5-4269-88DB-8871AD3B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47B160-15F0-4149-ACE9-656E328F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0DC170-8DEA-43AC-8DF8-A906B735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2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首屆後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E6A34C-7888-4D07-90AC-0929D249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7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認證與年度進展 review</a:t>
            </a:r>
          </a:p>
        </p:txBody>
      </p:sp>
    </p:spTree>
    <p:extLst>
      <p:ext uri="{BB962C8B-B14F-4D97-AF65-F5344CB8AC3E}">
        <p14:creationId xmlns:p14="http://schemas.microsoft.com/office/powerpoint/2010/main" val="4724307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F0F80D-7B2A-4747-99FE-65EE4AE8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E4055-E93D-40EC-A00B-0853CB93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DMS 是明確的 15 個月、15 門課、630 接觸學時課程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29C56-C0FC-4E3D-AD03-8A16C54A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02F11-DD2A-49AE-B3E0-A37F4548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3ac405f93b6d4f5a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6C277-D24F-463F-BB16-209486C1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20B6C-3F9D-4BD9-9AF6-520C39ED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380FC-FCCD-4B2F-AE61-3AF15BE7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38A13-83E4-4992-A5B6-1376D894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61DA6-8873-43FA-A026-A27C94F2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15 個月全日制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91C43-63CF-495F-89CF-AFC22587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2266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351C7-9218-444C-B40F-CFD9788F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28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DBCAF-0C58-4779-A99E-3130D216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28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F408C-CDEE-49C2-B6C6-65FA67E3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62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15 門課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DA5B3-5CF9-4F25-A7B4-E96F94FF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2266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69F00-DB1E-4A17-9B33-B50F532D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FEBE4-5F3F-4948-AC0A-91FF436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B4CD2-2157-4A3F-A5B8-49518E1F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62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每門 42 接觸學時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1A3F9-43FA-4769-BF9A-8D15637F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2266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44C6C-2BEE-482C-A7EC-C6036A3E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EC9EC-B494-49F1-91D1-40011A47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F"/>
          </a:solidFill>
          <a:ln xmlns:a="http://schemas.openxmlformats.org/drawingml/2006/main" w="9525">
            <a:solidFill>
              <a:srgbClr val="A642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4E2BA-57A3-4B87-AA5E-2204F432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62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總計 630 接觸學時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6F3DB-345C-4ED6-BECB-EE5DFEAB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24050"/>
            <a:ext cx="22669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A9074-D187-4FF3-A9FF-9827A717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1. English For Business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2. Business Communications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3. Business Mathematics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4. Microeconomics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5. Macroeconomics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6. Business Law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7. Business Statistics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8. Operations Management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43675-AA1C-4B89-B608-7FC86AB6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2887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9. Managerial Accounting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10. Information Systems for Business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11. Financial Accounting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12. Principles of Marketing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13. Managing Human Resources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14. Managing People and Organisations</a:t>
            </a:r>
          </a:p>
          <a:p xmlns:a="http://schemas.openxmlformats.org/drawingml/2006/main">
            <a:pPr algn="l">
              <a:defRPr sz="1200" b="0">
                <a:solidFill>
                  <a:srgbClr val="111713"/>
                </a:solidFill>
              </a:defRPr>
            </a:pPr>
            <a:r>
              <a:rPr sz="1200" b="0">
                <a:solidFill>
                  <a:srgbClr val="111713"/>
                </a:solidFill>
              </a:rPr>
              <a:t>15. Business Finance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77ADB-6907-476F-B75D-8ADA96D5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839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30059-E225-4F27-9DC3-74F97576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B7B4B0-D5BD-412D-AD84-854CC7B9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972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時程控管提醒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70C09-9D0B-4126-B9C5-75062ED8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5346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SIM 確認前不可鎖定長庚課程序列：DMS PDF 與 xlsx Data sheet 清單不同。</a:t>
            </a:r>
          </a:p>
        </p:txBody>
      </p:sp>
    </p:spTree>
    <p:extLst>
      <p:ext uri="{BB962C8B-B14F-4D97-AF65-F5344CB8AC3E}">
        <p14:creationId xmlns:p14="http://schemas.microsoft.com/office/powerpoint/2010/main" val="10098641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3DAC0C-F700-4F68-AC1B-94D275BB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4E182-8AE1-4CD8-8895-A2AA4C9C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6 門與 9 門情境差異在師資、課表與招生核准風險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905EC-62EC-4FF4-A541-A7E72A8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56F8C-2328-4F16-9839-B78DFC64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7bc150d737314db1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BF912-FFCC-4DA7-AE79-6CF1FA8B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FFD16-EEDA-4D47-A62D-84BAFB74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B7994-F789-4C0E-A002-E61EB584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C0B0D-BBC1-44D6-BA1A-1536433A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D808C-E77A-43F8-99B4-84C52F33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5A200-AD8A-4B0A-974D-5934DD69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476375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767AA-F8C4-4732-A819-AF56C18A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5430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價值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B2B93-384E-438B-80CE-D50DBBA5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D72DA-702C-473C-B265-071A7710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430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負荷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C4F17-2B52-4D02-9C37-4F71A1A5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476375"/>
            <a:ext cx="2847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2F278-49C1-48CC-9B3E-DB756186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430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主要風險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355B5-9559-4375-9423-D073AAF8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F5463-6758-4438-B7C3-FF6C12FE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長庚開授 6 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F9762-F280-4A1E-8571-02BDC1A9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022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C1B9D-1170-4F3F-8D75-41F99D34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7642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在台階段較快、師資負荷較低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9B31B-E254-4C94-99E4-ED792CE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022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71334-9145-499B-B3B4-9DDAA444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7642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至少 3 位合格教師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D7D75-0267-41BA-ABD6-8F1CE1ED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022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46A73-E904-4573-BA07-A2BE1A32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7642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教育部未核准且對長庚抵修可能不足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59F35-7DE3-4E8F-8B10-2523936F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898E7D-4BEC-4858-89D4-737CDD7C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長庚開授 9 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D5445E-5F5A-4AB2-8BA5-4F70E45A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83845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1AAEC0-BDE9-4FC7-B643-5A52DA81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1465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在台準備較完整，mapping 價值較高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6FD28-EECC-4EF1-9620-056C61D3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9B574-83A3-4678-A40B-F49E53BE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至少 5 位合格教師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48A0F-D1FA-4BF1-BA7C-44E49BF0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3845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AA0E9F-AA0C-4304-A787-CE2D4571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1465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師資、排課與招生核准複雜度較高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22E1DE-0F33-48FA-88AF-F548F2E4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6EF3AA-10DF-4253-91BF-20E430D8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OTC-only pilot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16C3CB-7F6F-48C6-A0C0-8446816F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87667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4B83A0-BB98-45F6-B94C-F8F0F130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95287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先測試營運再談路徑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72D206-3019-4BBD-B94C-158177D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667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33921-6E6F-41B6-943D-C07FA1BF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5287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可用較小範圍啟動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0C7DC5-F305-41AA-857D-E2EE952F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76675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241D72-32C0-46E1-BB92-66070C7F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52875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若招收 distinct cohort，教育部仍是關卡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843BF1-AB37-4364-BD00-7A87914E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12EB0D-9CC1-4E39-969A-6B947D1D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選配長庚學位回流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12BA4-53D2-4EB2-800D-666FD227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91490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1AA2F3-DBF7-4F1F-A60E-39C3AFEF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9110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保留取得長庚學位可能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D49B67-D200-4E5D-B9BD-87273B6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EC88A4-3C2D-4C00-906C-25A78C18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9110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視回流課程而定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149060-44A4-44CD-9CE9-2C6E948A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14900"/>
            <a:ext cx="28479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4C0F9D-857D-49F9-9707-582998B4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91100"/>
            <a:ext cx="2714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規則確認前不可宣傳</a:t>
            </a:r>
          </a:p>
        </p:txBody>
      </p:sp>
    </p:spTree>
    <p:extLst>
      <p:ext uri="{BB962C8B-B14F-4D97-AF65-F5344CB8AC3E}">
        <p14:creationId xmlns:p14="http://schemas.microsoft.com/office/powerpoint/2010/main" val="8365122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3706D-0330-4B68-9A13-0DB4069D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D04B5-23DE-4D12-877F-2365CC5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學分、學籍與長庚學位是主要校內限制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32225-FDC2-42BD-99C8-2B8CD26D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56FA1-2197-4811-A735-06A530EE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39fd6e7e3e224390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BAC06-C3D0-4E83-B82F-D56F91E5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322C1-1B2F-4FE4-953B-FFFAD6D1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E328D-9983-49F3-BB26-83107E37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61E5F-3D6B-4BA6-874E-C377F833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E6FC8-64C4-4BB0-87F6-81DEEEC0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學分規則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E77A9-A3F3-4F15-B572-1C746FCB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至少半數長庚學分／時間需在長庚或台灣完成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需確認依學分、時間、在校期間或混合計算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7EF8B-0A6B-49B5-AA4F-115D3FFB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B80D1-E67F-4F84-B205-A4D8EE95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C3F4A-CF5F-4DBF-B21D-F22B3F5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學籍規則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12160-2D83-4503-A934-585BA98F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赴 SIM 後是否保留長庚學籍尚未定案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可能採休學或退學，除非學生回流取得長庚學位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8425C-84DC-42F9-9D96-F9536A36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8661B-5B13-45E1-9E1D-30189283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0ED12-CFAD-4AA2-9A72-AB656579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抵修規則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DA3F0-19FE-4FCA-A876-518913A3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SIM 模組不可變成浪費學習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可納入必修目標或建立抵修／課程等同清單</a:t>
            </a:r>
          </a:p>
        </p:txBody>
      </p:sp>
    </p:spTree>
    <p:extLst>
      <p:ext uri="{BB962C8B-B14F-4D97-AF65-F5344CB8AC3E}">
        <p14:creationId xmlns:p14="http://schemas.microsoft.com/office/powerpoint/2010/main" val="1120120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08EAA4-9252-403C-AA6D-82BE8BF6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9A8D6-3216-494E-8EE5-7AF3B0DC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Application Form 會把合作構想變成佐證文件工程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83EEE-9AD5-471B-A72B-9B1D2E4C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8D2CD-29C2-4E09-AA5F-2D7BE986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5bc7bbba2d1c4649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238C-BB19-4B33-BB30-80B5D91F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2A408-DC2F-44C3-BA7B-B0F524AC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185C4-E0D8-449E-A1D5-972ED866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91935-F226-4763-B182-0240093A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E64BD-512F-41C4-912C-18BB9ACA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申請區塊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C4DC5-F9BB-49A2-B5D6-23EC11ED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20A52-E560-4799-AB36-D69D4683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長庚需完成事項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61961-2256-4297-8936-E8372EC5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B2A1B-7C9D-475E-99E6-D2DFDC3A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可能權責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EDDD6-DBD1-415E-B852-B20157E9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497B5-B69F-4A86-894F-57873D2D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OTC 身分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CF961-5045-4269-A86B-82FFD88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8658F-344A-49F9-A8F7-EDC4667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法人名稱、註冊、教學場地、簽署權限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49290-4772-4ED7-BEF9-C7A69361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E6CD4-FE1E-4848-BFB5-92A2BDE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國際事務／法務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F5DA6-DD1E-413D-9CB3-6578D61E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537CE-B5C3-4B62-BDC7-2FF6ADF2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現有課程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CFDC2-B6DE-4EE1-9EEE-094B225B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A847E-FDE3-4006-A3D3-9D0536F7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本地與國際課程、招生量、銜接路徑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955D9-3226-4FE3-9EB6-FD818EA8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99BAA-EF19-4DE7-8C1C-152197D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學院／系所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B9800-2303-4B8E-89C8-9427D5CB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A7E55-A137-4B76-8DC0-FE147C2A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授課計畫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F8126-0B36-4859-9E23-F73EA8F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87A2B-30AD-48D9-8B79-3316D7B2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理由、目標學生、課表、考務、停辦應變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4515D0-0933-40FC-B1F9-17387FE5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837C6-8DB8-4AEE-817F-EF3C2EF1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學術與營運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93DA66-90EA-46FD-A824-FF1060B4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164930-7060-4017-9D8C-87989CC7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師資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41B42C-6CB3-49A6-8F79-F85F12D4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C8D74B-D322-409A-9319-678EA798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教師分配、CV、profile、證書、成績單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070470-BA6C-4F57-9C05-5DB9C382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37077C-C70E-4DEE-A446-06697E39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師資盤點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756CBD-7795-48BA-A84E-AFA4FE5D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CF09A9-E18F-4DDE-BA46-9C17B163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場地資源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0DD234-9663-4689-B8F4-C8CB8583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99D191-F011-4D6D-97B3-2BB9DD40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教室、學習資源、學生支持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38A0E7-DC63-43F6-89B4-E539DA43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6C61B2-72FE-430F-A5AF-E2A034DD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營運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0409D4-412F-4847-A2F0-2AA80C69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EA9CBA-8B61-42BE-BADD-8381B0BF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招生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51825A-EF26-4030-A405-795B497A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99952F-2459-435F-972E-4C074D0A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招生管道、諮詢、intake 預估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A38FFC-82ED-4348-AC40-A98007B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0D1151-9763-4213-817E-0D835C7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招生</a:t>
            </a:r>
          </a:p>
        </p:txBody>
      </p:sp>
    </p:spTree>
    <p:extLst>
      <p:ext uri="{BB962C8B-B14F-4D97-AF65-F5344CB8AC3E}">
        <p14:creationId xmlns:p14="http://schemas.microsoft.com/office/powerpoint/2010/main" val="18082922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BD01C7-7D01-4993-AEF6-EA74955F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BF23F-2B51-4A55-844B-C5C1256F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SIM 限每位教師最多兩門，師資可能是第一個瓶頸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64999-C991-4D75-AC0A-73375D95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B3453-1163-4FC1-BB50-6952025B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51e9b99119f44a45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F5FBF-1586-444D-8B08-1E5A2A6F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0D04B-842E-4938-A523-D535F0E7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8B50D-1066-4E50-8989-7C718B82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3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139E2-101A-4D66-B955-C6A83E85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9CB90-715E-42AE-BF67-291FDFA4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核心判斷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5DF02-7B3A-4D24-9C64-1B5DCB59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053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6 門情境至少需 3 位合格英語授課教師；9 門情境至少需 5 位，且不得超過每師兩門。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1C4F3-B162-42F4-BB04-5AB6A0A3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教師 profile 需包含個資、國籍、模組分配、經驗、資格、英語能力、現職、證書與成績單。</a:t>
            </a:r>
          </a:p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Information Systems for Business 與 Business Statistics 較貼近資管優勢。</a:t>
            </a:r>
          </a:p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會計、財金、行銷、人資、營運、法律、經濟需商管院更廣泛盤點。</a:t>
            </a:r>
          </a:p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資料不完整可能導致 SIM 審查無法進行。</a:t>
            </a:r>
          </a:p>
        </p:txBody>
      </p:sp>
    </p:spTree>
    <p:extLst>
      <p:ext uri="{BB962C8B-B14F-4D97-AF65-F5344CB8AC3E}">
        <p14:creationId xmlns:p14="http://schemas.microsoft.com/office/powerpoint/2010/main" val="3759984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5F9287-33AA-4409-8DD1-745CD7B3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E5E92-6DC8-4B94-BDCF-36EB0D3D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推動小組需要可負責的工作流，不只是會議參與者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C0809-DAE7-4B61-8E0F-369363C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EFC97-8029-4A2B-9F2B-571CDBE3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6b47e0768b334021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C82DD-4C51-403D-94F9-36693246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D33F3-7F7F-44EA-8C41-6E1E6238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98994-B163-4C9E-8535-319D52D1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0EA9C-8366-452C-A0BF-A2A0C588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204D3-7481-442C-90C4-72ADAC5D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161EA-E2BE-4364-B0B0-953819AC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D5676-A3B8-4B35-9092-DF1B6E43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負責人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935D0-9553-40F1-B0A6-00EC3790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42C1F-7598-40BD-AA9B-2960E501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第一項產出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AE75F-2B7E-4103-AB5C-3B3B716C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DF71B-6C8F-45B1-8D66-0AD2EFC5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專案督導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1BE7E-952A-4FA5-A715-4DAB7BDF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41363-0464-49B5-9606-E8B1D924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專案督導或指定主管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AE5C4-8D0F-4D5D-B002-A9FFD5B9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070EC4-7B74-4E1C-9D28-F0844B6F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授權與決策紀錄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862F0-6F53-4516-B138-56125643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933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A11C1-7BC4-49A7-B7F7-5E68B52B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9553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課程銜接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35B1B-24D4-4F1D-9252-E2A0E02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31933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43CE9-0E01-4B9F-986D-FC5BAA51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39553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學院／系所負責人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B59C8-B356-4B9E-9F01-613E3120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1933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AE94E-CC96-45E5-AE1A-98F5877F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39553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DMS mapping 與 6/9 建議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E1DF3-D3C4-4729-9FAD-29E0C311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1ECD0-6B0E-4C59-AB92-F49FEB21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教務處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3B4446-9AC2-47CC-BCFD-9EBB3150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83845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6BC9CA-2D42-438F-823A-CE407A6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91465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教務處窗口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C9471-C1BA-44AC-8FA1-DF54902B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83845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6DA11F-381E-4FF4-AE75-02C99B83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91465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學分、抵修、學籍、學位規則 memo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226D96-B955-4F40-8752-B432E9B8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756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849660-2206-42FB-91B7-4DE64B60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3376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法務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449AD8-7241-4803-9E00-DACF11E0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35756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5BD2A0-62EA-454C-8B26-9D0B66B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43376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法務窗口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7275E3-0C8B-49C7-834A-9CB98ECC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35756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E0D769-03D8-48A5-91BB-6B6CA110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43376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NDA 與宣傳限制審閱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861BCA-F78B-4F26-BD41-6BB2E3E9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3D00BD-8BAA-41D4-A4E5-F6BA0817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SIM 聯繫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5F0D6B-E6C3-42A5-B2D8-C7763C3E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87667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0D342A-A3C0-43B8-9DD2-241A3A6B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95287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國際事務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52EA2F-4A5C-465D-B9DE-9C9B7A29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876675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3D465D-74B8-4AFF-9FE3-B729C6DA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952875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待釐清事項與文件往返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276008-410D-40A8-BD10-E5365B41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578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914D18-3F1A-47EB-B858-FE2699EB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198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營運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C875A7-F9C3-4B46-88A2-473AFDBC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39578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6B81A6-F68F-40D6-A911-E4F26CD9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47198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營運負責人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5723E3-1132-4814-A837-95D56D61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395788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BA9B82-44AF-4A9A-AD05-8C2AB938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471988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課表、場地、考務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E782E1-0961-48F4-BCB3-A58695AE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F23375-486A-496E-AFFF-E74B4041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招生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59AA54-EC17-4F32-9A6F-20F98DDB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91490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EDFCFF-E8FB-4B6E-BD6C-44970D5E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99110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招生／諮詢負責人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854A01-4CAC-412F-925E-E10E3A95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914900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238548-C562-48F4-93B1-D35CD50A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991100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合規諮詢模型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987AB6-0A08-4416-A0C6-65AA0D9A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3401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20E9E2-B912-431C-8476-5035F51B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1021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財務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62B3F0-D1B0-4EC2-BB53-64D66C88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43401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1AC1B3-84E3-496E-8F4E-07CAC6D5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51021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商業模式負責人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FE3E8C-669B-4497-9370-E0452E9B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434013"/>
            <a:ext cx="37973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196ABB-BB3E-4774-A305-65C67417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510213"/>
            <a:ext cx="36639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附件後費用模型</a:t>
            </a:r>
          </a:p>
        </p:txBody>
      </p:sp>
    </p:spTree>
    <p:extLst>
      <p:ext uri="{BB962C8B-B14F-4D97-AF65-F5344CB8AC3E}">
        <p14:creationId xmlns:p14="http://schemas.microsoft.com/office/powerpoint/2010/main" val="16369290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EAF9AD-7108-485F-89B8-CD917A4F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6A820-AF03-426E-9E70-BB77B7D8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實際路線應依階段與核准關卡推進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8D377-6C01-475E-A4F3-B2D053F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28B3B-9CF7-4A6C-A6A3-C271A1A3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7096f936f0e14a4c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31B33-8BEF-4D40-8D48-E72DFF25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C8B93-9CD1-49A3-8DDA-ED2D506F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9824B-D154-4FBD-B59D-6CF3560F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F657E-2015-4797-82CE-911341EB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05A71-CBB8-42CF-B7ED-95DA172C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1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校內對齊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917BB-94C6-458A-8CCA-D74840C0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推動小組、法務審閱、教務處請示、教育部招生路徑評估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5D957-CCE5-42DB-B112-D5CFF4D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055A1-D0EC-40BB-BA54-101C4A8F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CDD14-286E-487F-A0A9-32E31849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8A9C5-9D33-4989-BC3E-7E859BE7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釐清階段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2528D-367C-4CE7-9ED0-B0AE7124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若核准則簽 NDA、審閱 Annex、向 SIM 釐清、草擬獨立招生概念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5A518-5080-4E28-92B3-5225FA6A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D4A31-EE96-430E-ACDA-2C287A6F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9EEAC-3492-4735-980E-FE00FA9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B1CBA-D72C-466E-8120-124E9D57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佐證建置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BBA75-9201-4623-B175-A88DBE43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OTC 申請包、師資 profile、課程 mapping、招生理由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66429-730D-4CDD-BB70-D209E05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E56A2-98D4-4A33-A595-842A60B8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129B3-7D60-435C-BBBA-3BC5D181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D074B-81C0-4807-9026-629B6A81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外部審查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CB749-A217-42F3-B0D0-6E341F4A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SIM 審查與 audit，加上教育部招生申請與補件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843F2-4A5E-4EE0-894D-D2501913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BA86B-FB38-49BA-A984-21D6B0A6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7C092-74AE-4568-981F-9A1A03AA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919025-38A0-427A-BD8E-25374154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雙核准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C3135C-DDEE-4103-A758-DF3A66B2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10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正式合約與核准版招生諮詢條件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27DCE1-CE57-4435-8683-0A67980B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AF84F-92CF-44F3-B0DA-B2CAF6CE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5CFBDE-4E30-4185-9AE8-7573AEC1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07A936-9EB0-4C25-90E2-7E38AF79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24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開辦準備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EAD107-60B4-40AC-B36E-7CB203D6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7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5D57"/>
                </a:solidFill>
              </a:defRPr>
            </a:pPr>
            <a:r>
              <a:rPr sz="1275" b="0">
                <a:solidFill>
                  <a:srgbClr val="545D57"/>
                </a:solidFill>
              </a:rPr>
              <a:t>營運、首屆授課、認證與年度 review</a:t>
            </a:r>
          </a:p>
        </p:txBody>
      </p:sp>
    </p:spTree>
    <p:extLst>
      <p:ext uri="{BB962C8B-B14F-4D97-AF65-F5344CB8AC3E}">
        <p14:creationId xmlns:p14="http://schemas.microsoft.com/office/powerpoint/2010/main" val="16790661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F6BD6-B138-46D2-AA25-58B22F70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21DD0-4BB4-45A8-8810-CE817563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風險登錄顯示本案應採階段性可行性評估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F1D88-817E-497C-8F02-E8B9A3DB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6DE2F-64F4-402D-A83A-D4782B71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f22eca388c024a14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E1A3F-1D1E-4942-99FB-8A598B0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7CE5D-477D-4150-B221-F100F4D3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F4FB7-D921-4B08-AEB9-A8DCA2B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6B4D4-8583-417A-BFA4-2C6DADA6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3083F-79C3-404A-861F-0693E9D6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等級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07F9D-A94A-48F5-8CBF-425EB8A1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24FAA-876A-4EAF-87CD-DA6FA995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風險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3F0CB-83A1-4B8E-8FD1-C847BAAC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F810E-5797-41EA-9936-174DDA64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因應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72112-0E87-44D9-A04A-266E351B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D359A-5FBA-4A56-A5AC-AAE703E4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DA665-FE59-4BE6-8FD6-C5F210AC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143F8-F665-4F7F-BDEF-DF7FACD8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教育部可能不核准 CGU-SIM cohort 獨立招生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04FFA-81F6-4453-818A-D9CDCCF6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B4758-5AF9-437D-AEE8-0DFD123A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將教育部核准視為與 SIM 核准同等的 go/no-go 關卡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13A97-BDDE-4CBF-9450-12D94CD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856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4549A-4BF1-4855-B147-21B74264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4476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4410C-BB6F-4EA3-8E53-4CB8FEF8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6856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7B048-B7F2-4F75-9F34-9970623C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54476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長庚／台灣規則可能不支援簡單雙學位敘事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70284-5A08-48F8-BA5B-24E9C0B9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6856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83AFF-9995-4335-8FB4-EE44CC5A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54476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長庚學位先定位為選配，待教務處確認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BF7EC-954D-44E3-BA8E-3157EE92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6900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742AED-EFFD-4C75-8890-758FF317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13100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CB976-6B82-4944-B7CE-C00621A6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136900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203DF-188E-415D-AD3A-25CCE6E8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213100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赴新加坡階段學籍未定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8BF30-5ACD-4821-9944-295D08A5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136900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D35B9-E808-45F3-86BA-9EE4D2D2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213100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建立休學／退學／回流決策樹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8EA9D4-7EF0-44A2-BF6E-F1AADE68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5238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3BF51D-DB13-43DF-BACF-9AF3221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1438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FA3AE3-4A99-4F2B-9D88-662BAE44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805238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EEB90E-A369-4F0B-94DE-B2A66E2E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81438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6-9 門課師資可能不足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FFC6C3-44C5-427C-8F41-4ACA741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805238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DD1FCC-0336-496B-B4D7-6668CDEF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881438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範圍決策前先盤點英語授課師資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4A7DB2-5C3F-4E07-804D-B2ECD095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357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BFF493-5B0E-41F3-8215-7A00E01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977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58369B-AB5F-40CE-BD59-223591C1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47357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7AAAA9-E7D3-45D4-A262-81C69ADA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54977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NDA 不得宣傳限制招生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59277F-84A7-42CD-8600-EBB3ADC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473575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5E8E8D-AED0-437E-8FC9-13CF988B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549775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無法務與 SIM 書面同意前不對外宣稱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2CE884-0557-4DF4-A8C1-89220932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191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92FCD4-8124-4F92-BC1D-DFC802BC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811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中高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A543C2-01C7-4C59-B654-B9939412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14191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1703DE-B2C0-440E-B191-0F78234C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21811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SIM 同步時程可能無法對齊長庚學期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E7F371-6AC7-4655-8FB7-6D000705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141913"/>
            <a:ext cx="3797300" cy="668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3422D5-E3B4-480A-B2B9-E2E19893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218113"/>
            <a:ext cx="3663950" cy="573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以 SIM cycle 回推長庚課表</a:t>
            </a:r>
          </a:p>
        </p:txBody>
      </p:sp>
    </p:spTree>
    <p:extLst>
      <p:ext uri="{BB962C8B-B14F-4D97-AF65-F5344CB8AC3E}">
        <p14:creationId xmlns:p14="http://schemas.microsoft.com/office/powerpoint/2010/main" val="19653063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263F2-D0AE-482B-9663-32C03CE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6E9F3-03E3-474E-8432-E754A142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待釐清事項需分派給招生、教務、法務與 SIM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6B9B5-0F66-47FC-993A-95FEDBA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02725-E679-40BB-AFAA-5EDADCB0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69a06911df3a4bf1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B8C28-7EAF-4AFE-9F53-700B492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132ED-3CF2-4950-BB13-2A790176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5AD1D-7BB5-4364-828C-635CE2B0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C22B9-0C0C-4B32-B031-97426757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A64F9-A86A-4DEE-9E8A-F0C4174C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招生／教育部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7A195-31E1-4F2A-AE40-316A9676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獨立招生核准路徑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學費與名額處理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學籍與銜接揭露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不核准時停損方案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50C88-7108-40C7-A9CC-593ECB6A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09AC6-FAFF-4DE5-BEFA-26517FAD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B32"/>
          </a:solidFill>
          <a:ln xmlns:a="http://schemas.openxmlformats.org/drawingml/2006/main" w="9525">
            <a:solidFill>
              <a:srgbClr val="B26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1EE94-7D52-4D95-B172-A7403D9F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教務處／法務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344E1-569D-410F-8BCC-5670F4DA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學分／時間／在校規則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赴 SIM 後學籍處理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新加坡法與專屬管轄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宣傳限制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8F11F-F828-4216-86F3-0EEDC8A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2AC99-D643-456E-A631-F2C03715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F"/>
          </a:solidFill>
          <a:ln xmlns:a="http://schemas.openxmlformats.org/drawingml/2006/main" w="9525">
            <a:solidFill>
              <a:srgbClr val="315F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D1CB6-8BD7-4571-80A9-398E809A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SIM／Jessy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4312D-07A4-46E1-8BA4-154D8AFE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242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DMS 序列與 6/9 門模組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精確授課分工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線上時程彈性</a:t>
            </a:r>
          </a:p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考務、費用、班級門檻</a:t>
            </a:r>
          </a:p>
        </p:txBody>
      </p:sp>
    </p:spTree>
    <p:extLst>
      <p:ext uri="{BB962C8B-B14F-4D97-AF65-F5344CB8AC3E}">
        <p14:creationId xmlns:p14="http://schemas.microsoft.com/office/powerpoint/2010/main" val="12608646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D651D-1053-47BB-B0AF-31E4BBE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8C949-99B9-4474-868F-39DCE6F6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下一步決策應開啟查證授權，而非直接承諾合作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B7C21-CAF7-44FE-9CA8-0F25E6C7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F5FAE-1769-4C62-89B1-E7D0229C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55546bfbddb24a59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F7FF9-4317-43CA-B062-FCACF693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6F07D-1F02-4E14-940E-2697AD97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E83F5-6FAB-4E51-A20D-07AAFE65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3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A16F3-E681-4CB2-A3EC-6AAA2778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56933-5A1A-44C3-BE0F-B6964052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713"/>
                </a:solidFill>
              </a:defRPr>
            </a:pPr>
            <a:r>
              <a:rPr sz="1500" b="1">
                <a:solidFill>
                  <a:srgbClr val="111713"/>
                </a:solidFill>
              </a:rPr>
              <a:t>核心判斷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A7EF8-D2E6-47DA-AD5C-3A1E2972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053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5D57"/>
                </a:solidFill>
              </a:defRPr>
            </a:pPr>
            <a:r>
              <a:rPr sz="1200" b="0">
                <a:solidFill>
                  <a:srgbClr val="545D57"/>
                </a:solidFill>
              </a:rPr>
              <a:t>建議結論：進入結構化可行性與申請準備階段，不對外宣稱已啟動合作招生。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E2663-BAD2-46AC-AE97-4ED9A0A2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以 DMS 為初始標的，比較 6 門與 9 門模式。</a:t>
            </a:r>
          </a:p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長庚學位回流路徑列為第二階段設計。</a:t>
            </a:r>
          </a:p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NDA 須經法務審閱與授權簽署人核准後再簽。</a:t>
            </a:r>
          </a:p>
          <a:p xmlns:a="http://schemas.openxmlformats.org/drawingml/2006/main">
            <a:pPr algn="l">
              <a:defRPr sz="1500" b="0">
                <a:solidFill>
                  <a:srgbClr val="111713"/>
                </a:solidFill>
              </a:defRPr>
            </a:pPr>
            <a:r>
              <a:rPr sz="1500" b="0">
                <a:solidFill>
                  <a:srgbClr val="111713"/>
                </a:solidFill>
              </a:rPr>
              <a:t>• 將 SIM 審查與教育部招生核准視為交織的雙申請。</a:t>
            </a:r>
          </a:p>
        </p:txBody>
      </p:sp>
    </p:spTree>
    <p:extLst>
      <p:ext uri="{BB962C8B-B14F-4D97-AF65-F5344CB8AC3E}">
        <p14:creationId xmlns:p14="http://schemas.microsoft.com/office/powerpoint/2010/main" val="20979024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689A8-7916-44B3-AB02-3D5EC3CA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64DFF-C46F-4790-A4D0-5FE1E2A2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立即行動項目應有權責，但不強塞週期邊界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BDB38-1F2A-4287-9C29-ECCB035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8122A-5C89-468C-800F-DE4DDB47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db51de12c23d43d1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E92EC-4A30-4A47-A937-E1BB0D22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1F73A-BCC2-40A7-BE68-22502189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94327-35AB-48E1-A4BA-CD0CD2E4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52872-0D8A-434B-83E8-1A21EA05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C5783-7D3E-4C73-A843-5B6CD054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行動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E4D1D-2B7A-4B56-9E2D-08649A00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1405F-942E-473B-8356-E2F6A039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權責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FCAC9-870B-471E-AE54-92E8855A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EFC07-3A36-4932-A777-F5AC6903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階段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4EE4E-01E4-478F-9ACA-F12C6D28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17CF5-6856-4212-A414-180018E6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指定專案督導與工作流負責人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FE468-8264-4379-AC8F-5AD56E98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73BF8-8DA2-49ED-BFB3-6AC901B4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專案督導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0F8C8-2DD6-4836-871F-6D87FDC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EF3D0-A275-4D03-B6E1-729A0D3D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啟動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7711B-EB87-4B1A-9371-A38EE6B4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2210C-049D-4BDF-9FB2-02C8AE21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確認教育部獨立招生路徑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5C0F5-C840-4EB7-B34F-2DB69636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FC102-9622-48BA-9FBD-3329A8DB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招生／教務處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F4973-E55D-4C87-8FDD-1BBCF836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923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C7203-0623-4BEF-8CDC-8AE7E037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5685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政策定義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0331B-7309-4B70-A4FB-0A3662FF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6747F-65C5-4781-8748-795834D3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啟動 NDA 法務審閱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BAC93-93C4-45CF-9E5A-753B6959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35AE97-EA4E-4367-AFB9-C921560D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法務／國際事務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AC3D6A-983F-4510-B6B6-B835C7F0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1845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BB0A47-44A5-4BE6-961A-4CC591AE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2607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法務關卡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9A4DDF-CD18-4CB0-B0A1-7647020E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F02165-EF04-4E2A-A2CA-7582B314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請教務處提出規則 memo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B4F98B-A077-4B48-AD9C-F57C9717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E15C00-CBA0-4830-8191-4341CB02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教務處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2F7BD8-F2D8-4AEB-BA9E-2E11641A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8766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0A9F22-97FA-4580-9C2E-979D46EE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9528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教務規則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C3F29C-8097-4571-92DD-9DBE59B1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24FBB2-E408-4964-B199-E6EA6560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建立師資準備矩陣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9EA901-17DD-4BBD-967E-D2666E1D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3A2331-0CDE-4819-AA0F-81AF412F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師資盤點負責人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6AED3F-5B2C-40CE-96D3-8153438E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56882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89379C-AA52-4BAB-A7BE-5B50A2FB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64502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佐證建置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CE1A84-97B8-452C-9DEE-4DCCC0E1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F1C74C-DE80-4F4A-B0FF-0E2DF16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713"/>
                </a:solidFill>
              </a:defRPr>
            </a:pPr>
            <a:r>
              <a:rPr sz="1050" b="1">
                <a:solidFill>
                  <a:srgbClr val="111713"/>
                </a:solidFill>
              </a:rPr>
              <a:t>起草 SIM 待釐清清單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B7FDC8-ED32-44D5-B92B-BF6B0862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B85346-899F-45C6-B5A5-9FE86D9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SIM 聯繫窗口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C7BABD-C333-4FAC-BE4D-B298586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260975"/>
            <a:ext cx="3797300" cy="69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3DB42F-077C-4AAC-B4D0-C8ABCFF2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337175"/>
            <a:ext cx="366395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5D57"/>
                </a:solidFill>
              </a:defRPr>
            </a:pPr>
            <a:r>
              <a:rPr sz="1050" b="0">
                <a:solidFill>
                  <a:srgbClr val="545D57"/>
                </a:solidFill>
              </a:rPr>
              <a:t>釐清階段</a:t>
            </a:r>
          </a:p>
        </p:txBody>
      </p:sp>
    </p:spTree>
    <p:extLst>
      <p:ext uri="{BB962C8B-B14F-4D97-AF65-F5344CB8AC3E}">
        <p14:creationId xmlns:p14="http://schemas.microsoft.com/office/powerpoint/2010/main" val="16993025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F25BE0-22DC-4067-9E62-E357DF2A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長庚大學與 SIM 合作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3CD9C-8E0D-4CD5-811C-6222E86E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713"/>
                </a:solidFill>
              </a:defRPr>
            </a:pPr>
            <a:r>
              <a:rPr sz="2625" b="1">
                <a:solidFill>
                  <a:srgbClr val="111713"/>
                </a:solidFill>
              </a:rPr>
              <a:t>附錄：主要主張之來源註記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6541E-0499-4C8C-B886-4488BB9F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2D6F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F77CD-2685-49DD-919C-7BCBEBB3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6F73"/>
                </a:solidFill>
              </a:defRPr>
            </a:pPr>
            <a:r>
              <a:rPr sz="900" b="1">
                <a:solidFill>
                  <a:srgbClr val="2D6F73"/>
                </a:solidFill>
                <a:hlinkClick xmlns:r="http://schemas.openxmlformats.org/officeDocument/2006/relationships" r:id="Rd746bcd93d584ecc"/>
              </a:rPr>
              <a:t>開啟問答助手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209E7-3388-4D9B-AB60-0E6D3B1E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45D57"/>
                </a:solidFill>
              </a:defRPr>
            </a:pPr>
            <a:r>
              <a:rPr sz="1050" b="1">
                <a:solidFill>
                  <a:srgbClr val="545D57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AB51F-1D98-4EC9-984F-DD94C7CF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E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6D589-02B1-477C-837C-16B21C74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96FD9-12D0-425D-92DC-E9E93AEA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BF565-1698-4516-A8A6-62A3FFE0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主張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8982B-F1C1-4DB6-86B3-8E373464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C18B9-9A9F-4EEC-A4B1-1677A3EF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來源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FB91B-5250-47C5-9AE2-9B1884B7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476375"/>
            <a:ext cx="379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C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B59D1-6D71-4FCC-B00C-3AA4FA32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43050"/>
            <a:ext cx="366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5D57"/>
                </a:solidFill>
              </a:defRPr>
            </a:pPr>
            <a:r>
              <a:rPr sz="900" b="1">
                <a:solidFill>
                  <a:srgbClr val="545D57"/>
                </a:solidFill>
              </a:rPr>
              <a:t>狀態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2B1C1-1721-49E5-A95E-DEB4D8EC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2155D-9235-4199-BF46-7730FA54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長庚招生 + SIM 加發 offer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95213-05A7-4D9E-966F-EEAFE16D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1800225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74211-3A45-4C68-8D0A-E545DDC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76425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2026 年 6 月 9 日會談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8D369-59CE-412A-BD78-08C30619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800225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7B9C0-F219-4953-ABA6-F5D72C13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876425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會談確認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82000-377A-438A-B948-389A5CB8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3496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470CE-32B6-4BF5-8FC1-2CDF3961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9696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招生規定須報教育部核定後實施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40010-CFF3-4FAF-8B3A-0E398353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393496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5A216-C934-4DC5-9DC7-DF18CCB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469696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大學法第 24 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5050E-ED64-44B0-8919-BC52E4C4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93496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A36AB-A6DD-4791-A1AD-63D279F4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469696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法規確認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3E77C-DC52-4C6D-BDB5-C52F5916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6768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C28842-06D9-4BB5-8C39-50326AB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2968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OTC 申請、稽核、180 日內簽約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E5E4EA-F3E3-4313-9778-57AADA87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986768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912D6D-BC10-400B-8BDC-5AF4E18C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062968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OTC Guide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6DA874-1446-4C4D-8D85-CC7EFF40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986768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5889E3-1047-4E55-8707-74FD4116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062968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SIM 文件確認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7DA766-DCD7-4052-8552-153591C8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0039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6472EB-EAB5-49C4-B630-5EDEA29C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56239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DMS 15 門課／630 學時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2FA0DA-AB19-4DC0-8D0D-7676B8AA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3580039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7631A7-4233-425F-AC5D-25D0EA1B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656239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DMS Course Info PDF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E36FE1-7AA2-422A-9949-A0463E07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580039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B6766F-955A-4561-B181-70286492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656239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SIM 文件確認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AA7427-88C2-4AAF-A18C-CD7D5E56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3311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690876-9C39-4E61-A5E9-976065CA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49511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DMS 6/9 門選項與 blended hours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8E7007-F55D-4DA4-B6C9-61903112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173311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34A6C0-8899-456F-B7DF-E7E2126F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249511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Application Form Appendix 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442F6D-339C-426B-8618-2BB0C88F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73311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ADECDD-3CC1-4FE0-B88E-ED0FA9D6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249511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SIM 文件確認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B0774B-A72D-4816-84A3-C59AB56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6582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8F907F-A746-4AA1-A7FF-1017D97C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42782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每位教師最多兩門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4678ED-C48E-424A-95E6-338E137C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766582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45CCEB-E4A5-4747-B3C0-BFAAC009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842782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Teaching Profile xlsx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06B2F9-637B-4FF1-B148-C077158C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766582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48E038-4351-4A97-A743-7E8E6918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842782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SIM 文件確認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D5B460-9939-4369-BFF6-5CE5A544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9854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B8024A-D192-4CD4-BA83-0C644533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36054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713"/>
                </a:solidFill>
              </a:defRPr>
            </a:pPr>
            <a:r>
              <a:rPr sz="900" b="1">
                <a:solidFill>
                  <a:srgbClr val="111713"/>
                </a:solidFill>
              </a:rPr>
              <a:t>任一核准失敗即阻斷開辦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FD3FBF-BB74-4BDF-A663-E7201952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359854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E9BACE-916E-434A-B193-E9CB6C9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5436054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OTC Guide 與大學法綜整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C667DD-5A1D-40D9-AB74-CCEA91B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5359854"/>
            <a:ext cx="3797300" cy="5932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BD28EE-1E8D-4F8E-B1C5-C9366FC0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436054"/>
            <a:ext cx="3663950" cy="498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5D57"/>
                </a:solidFill>
              </a:defRPr>
            </a:pPr>
            <a:r>
              <a:rPr sz="900" b="0">
                <a:solidFill>
                  <a:srgbClr val="545D57"/>
                </a:solidFill>
              </a:rPr>
              <a:t>簡報結論</a:t>
            </a:r>
          </a:p>
        </p:txBody>
      </p:sp>
    </p:spTree>
    <p:extLst>
      <p:ext uri="{BB962C8B-B14F-4D97-AF65-F5344CB8AC3E}">
        <p14:creationId xmlns:p14="http://schemas.microsoft.com/office/powerpoint/2010/main" val="1653859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2026-07-11T05:29:19.6920000Z</dcterms:created>
  <dcterms:modified xsi:type="dcterms:W3CDTF">2026-07-11T05:29:19.6920000Z</dcterms:modified>
</coreProperties>
</file>